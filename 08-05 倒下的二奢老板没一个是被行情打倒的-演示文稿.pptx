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77" r:id="rId6"/>
    <p:sldId id="279" r:id="rId7"/>
    <p:sldId id="287" r:id="rId8"/>
    <p:sldId id="288" r:id="rId9"/>
    <p:sldId id="298" r:id="rId10"/>
    <p:sldId id="299" r:id="rId11"/>
    <p:sldId id="319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5" userDrawn="1">
          <p15:clr>
            <a:srgbClr val="A4A3A4"/>
          </p15:clr>
        </p15:guide>
        <p15:guide id="2" pos="2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215"/>
        <p:guide pos="29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1905000"/>
            <a:ext cx="2282951" cy="320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1973580"/>
            <a:ext cx="2282951" cy="2430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2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一周一课 · 2026.08.05</a:t>
            </a:r>
            <a:endParaRPr sz="132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0" y="2453640"/>
            <a:ext cx="10668000" cy="15508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5760" b="1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倒下的二奢老板</a:t>
            </a:r>
            <a:endParaRPr sz="5760" b="1">
              <a:solidFill>
                <a:srgbClr val="1A1A1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06000"/>
              </a:lnSpc>
            </a:pPr>
            <a:r>
              <a:rPr sz="5760" b="1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没一个是被行情打倒的</a:t>
            </a:r>
            <a:endParaRPr sz="5760" b="1">
              <a:solidFill>
                <a:srgbClr val="1A1A1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4172102"/>
            <a:ext cx="8763000" cy="946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80" b="0">
                <a:solidFill>
                  <a:srgbClr val="6B6B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能把你一次清零的</a:t>
            </a:r>
            <a:r>
              <a:rPr lang="zh-CN" sz="2280" b="0">
                <a:solidFill>
                  <a:srgbClr val="6B6B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三</a:t>
            </a:r>
            <a:r>
              <a:rPr sz="2280" b="0">
                <a:solidFill>
                  <a:srgbClr val="6B6B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个地方——</a:t>
            </a:r>
            <a:endParaRPr sz="2280" b="0">
              <a:solidFill>
                <a:srgbClr val="6B6B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5000"/>
              </a:lnSpc>
            </a:pPr>
            <a:r>
              <a:rPr lang="zh-CN" sz="2280" b="0">
                <a:solidFill>
                  <a:srgbClr val="6B6B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客资、货物、</a:t>
            </a:r>
            <a:r>
              <a:rPr lang="zh-CN" sz="2280" b="0">
                <a:solidFill>
                  <a:srgbClr val="6B6B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管理</a:t>
            </a:r>
            <a:endParaRPr lang="zh-CN" sz="2280" b="0">
              <a:solidFill>
                <a:srgbClr val="6B6B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0" y="5411114"/>
            <a:ext cx="1066800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40" b="0">
                <a:solidFill>
                  <a:srgbClr val="6B6B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—— 这堂课不教你赚钱，教你别一次全没 ｜ 闫亚老师 主讲</a:t>
            </a:r>
            <a:endParaRPr sz="1440" b="0">
              <a:solidFill>
                <a:srgbClr val="6B6B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79120"/>
            <a:ext cx="853440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40" b="1">
                <a:solidFill>
                  <a:srgbClr val="6B6B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写在前面</a:t>
            </a:r>
            <a:endParaRPr sz="1440" b="1">
              <a:solidFill>
                <a:srgbClr val="6B6B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2000" y="981456"/>
            <a:ext cx="8534400" cy="521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80" b="1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这两年，谁都在说行情不好</a:t>
            </a:r>
            <a:endParaRPr sz="3480" b="1">
              <a:solidFill>
                <a:srgbClr val="1A1A1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0" y="1716328"/>
            <a:ext cx="8534400" cy="3886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40" b="0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行情确实不好。但我这些年，把身边倒下的人挨个看过来——</a:t>
            </a:r>
            <a:endParaRPr sz="2040" b="0">
              <a:solidFill>
                <a:srgbClr val="1A1A1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2000" y="2226868"/>
            <a:ext cx="8534400" cy="886967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2226868"/>
            <a:ext cx="60960" cy="886967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1080" y="2424988"/>
            <a:ext cx="8016239" cy="4907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760" b="1">
                <a:solidFill>
                  <a:srgbClr val="3A2D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没一个，</a:t>
            </a:r>
            <a:r>
              <a:rPr sz="2760" b="1">
                <a:solidFill>
                  <a:srgbClr val="C039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是被行情打倒的</a:t>
            </a:r>
            <a:r>
              <a:rPr sz="2760" b="1">
                <a:solidFill>
                  <a:srgbClr val="3A2D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。</a:t>
            </a:r>
            <a:endParaRPr sz="2760" b="1">
              <a:solidFill>
                <a:srgbClr val="3A2D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2000" y="3266236"/>
            <a:ext cx="8534400" cy="7740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80" b="0">
                <a:solidFill>
                  <a:srgbClr val="6B6B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行情只是让你少赚钱。</a:t>
            </a:r>
            <a:endParaRPr sz="1680" b="0">
              <a:solidFill>
                <a:srgbClr val="6B6B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50000"/>
              </a:lnSpc>
            </a:pPr>
            <a:r>
              <a:rPr sz="1680" b="0">
                <a:solidFill>
                  <a:srgbClr val="6B6B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能让你一次全没的，是另外</a:t>
            </a:r>
            <a:r>
              <a:rPr lang="zh-CN" sz="1680" b="0">
                <a:solidFill>
                  <a:srgbClr val="6B6B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三</a:t>
            </a:r>
            <a:r>
              <a:rPr sz="1680" b="0">
                <a:solidFill>
                  <a:srgbClr val="6B6B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个地方。</a:t>
            </a:r>
            <a:endParaRPr sz="1680" b="0">
              <a:solidFill>
                <a:srgbClr val="6B6B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79120"/>
            <a:ext cx="853440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40" b="1">
                <a:solidFill>
                  <a:srgbClr val="6B6B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先听三个数</a:t>
            </a:r>
            <a:endParaRPr sz="1440" b="1">
              <a:solidFill>
                <a:srgbClr val="6B6B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2000" y="981456"/>
            <a:ext cx="8534400" cy="1043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80" b="1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一件都不常发生</a:t>
            </a:r>
            <a:endParaRPr sz="3480" b="1">
              <a:solidFill>
                <a:srgbClr val="1A1A1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8000"/>
              </a:lnSpc>
            </a:pPr>
            <a:r>
              <a:rPr sz="3480" b="1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发生一次，五年白干</a:t>
            </a:r>
            <a:endParaRPr sz="3480" b="1">
              <a:solidFill>
                <a:srgbClr val="1A1A1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0" y="2375001"/>
            <a:ext cx="533400" cy="368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40" b="1">
                <a:solidFill>
                  <a:srgbClr val="C039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2640" b="1">
              <a:solidFill>
                <a:srgbClr val="C039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78280" y="2375001"/>
            <a:ext cx="7818120" cy="220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6B6B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进项票</a:t>
            </a:r>
            <a:endParaRPr sz="1200" b="0">
              <a:solidFill>
                <a:srgbClr val="6B6B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78280" y="2626461"/>
            <a:ext cx="781812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货源都是个人，票拿不到——你卖一百万，</a:t>
            </a:r>
            <a:r>
              <a:rPr sz="1800" b="1">
                <a:solidFill>
                  <a:srgbClr val="C039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可能就按一百万利润在交税</a:t>
            </a:r>
            <a:endParaRPr sz="1800" b="1">
              <a:solidFill>
                <a:srgbClr val="C039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2000" y="3106521"/>
            <a:ext cx="8534400" cy="762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3243681"/>
            <a:ext cx="533400" cy="368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40" b="1">
                <a:solidFill>
                  <a:srgbClr val="C039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2640" b="1">
              <a:solidFill>
                <a:srgbClr val="C039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78280" y="3243681"/>
            <a:ext cx="7818120" cy="220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6B6B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个人账户</a:t>
            </a:r>
            <a:endParaRPr sz="1200" b="0">
              <a:solidFill>
                <a:srgbClr val="6B6B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78280" y="3495141"/>
            <a:ext cx="781812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平台个人账户收款超过一百五到两百万，触发的是</a:t>
            </a:r>
            <a:r>
              <a:rPr sz="1800" b="1">
                <a:solidFill>
                  <a:srgbClr val="C039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更高一档的税率</a:t>
            </a:r>
            <a:endParaRPr sz="1800" b="1">
              <a:solidFill>
                <a:srgbClr val="C039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2000" y="3975201"/>
            <a:ext cx="8534400" cy="7620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4112361"/>
            <a:ext cx="533400" cy="368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40" b="1">
                <a:solidFill>
                  <a:srgbClr val="C039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2640" b="1">
              <a:solidFill>
                <a:srgbClr val="C039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78280" y="4112361"/>
            <a:ext cx="7818120" cy="220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6B6B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实名登记</a:t>
            </a:r>
            <a:endParaRPr sz="1200" b="0">
              <a:solidFill>
                <a:srgbClr val="6B6B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78280" y="4363821"/>
            <a:ext cx="781812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货被认定是赃物：有登记，警察不强硬追货；</a:t>
            </a:r>
            <a:r>
              <a:rPr sz="1800" b="1">
                <a:solidFill>
                  <a:srgbClr val="C039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没登记，整店的货都可能被拿走</a:t>
            </a:r>
            <a:endParaRPr sz="1800" b="1">
              <a:solidFill>
                <a:srgbClr val="C039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2528011"/>
            <a:ext cx="1575815" cy="304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2573731"/>
            <a:ext cx="1575815" cy="3206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44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PART 0</a:t>
            </a:r>
            <a:r>
              <a:rPr lang="en-US" sz="144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r>
              <a:rPr sz="144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/ 0</a:t>
            </a:r>
            <a:r>
              <a:rPr lang="en-US" sz="144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lang="en-US" sz="144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0" y="2893771"/>
            <a:ext cx="10668000" cy="1056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lang="zh-CN" altLang="en-US" sz="648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流量与账号合规</a:t>
            </a:r>
            <a:endParaRPr lang="zh-CN" altLang="en-US" sz="648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3903268"/>
            <a:ext cx="10668000" cy="5314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80" b="1">
                <a:solidFill>
                  <a:srgbClr val="FFD16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99% 的封号，来自</a:t>
            </a:r>
            <a:r>
              <a:rPr lang="zh-CN" sz="2880" b="1">
                <a:solidFill>
                  <a:srgbClr val="FFD16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不会</a:t>
            </a:r>
            <a:r>
              <a:rPr lang="zh-CN" sz="2880" b="1">
                <a:solidFill>
                  <a:srgbClr val="FFD16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操作</a:t>
            </a:r>
            <a:endParaRPr lang="zh-CN" sz="2880" b="1">
              <a:solidFill>
                <a:srgbClr val="FFD16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79120"/>
            <a:ext cx="8534400" cy="2343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lang="zh-CN" altLang="en-US" sz="1440" b="1">
                <a:solidFill>
                  <a:srgbClr val="FF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流量与账号合规</a:t>
            </a:r>
            <a:endParaRPr lang="zh-CN" altLang="en-US" sz="1440" b="1">
              <a:solidFill>
                <a:srgbClr val="FF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325" y="1298956"/>
            <a:ext cx="8534400" cy="37890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571500" indent="-571500" algn="l">
              <a:lnSpc>
                <a:spcPct val="118000"/>
              </a:lnSpc>
              <a:buFont typeface="+mj-ea"/>
              <a:buAutoNum type="ea1JpnChsDbPeriod"/>
            </a:pPr>
            <a:r>
              <a:rPr lang="zh-CN" altLang="en-US" sz="3480" b="1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引流不留把柄</a:t>
            </a:r>
            <a:endParaRPr lang="zh-CN" altLang="en-US" sz="3480" b="1">
              <a:solidFill>
                <a:srgbClr val="1A1A1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571500" indent="-571500" algn="l">
              <a:lnSpc>
                <a:spcPct val="118000"/>
              </a:lnSpc>
              <a:buFont typeface="+mj-ea"/>
              <a:buAutoNum type="ea1JpnChsDbPeriod"/>
            </a:pPr>
            <a:r>
              <a:rPr lang="zh-CN" altLang="en-US" sz="3480" b="1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报白到底要什么</a:t>
            </a:r>
            <a:endParaRPr lang="zh-CN" altLang="en-US" sz="3480" b="1">
              <a:solidFill>
                <a:srgbClr val="1A1A1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571500" indent="-571500" algn="l">
              <a:lnSpc>
                <a:spcPct val="118000"/>
              </a:lnSpc>
              <a:buFont typeface="+mj-ea"/>
              <a:buAutoNum type="ea1JpnChsDbPeriod"/>
            </a:pPr>
            <a:r>
              <a:rPr lang="zh-CN" altLang="en-US" sz="3480" b="1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申诉别浪费时间</a:t>
            </a:r>
            <a:endParaRPr lang="zh-CN" altLang="en-US" sz="3480" b="1">
              <a:solidFill>
                <a:srgbClr val="1A1A1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571500" indent="-571500" algn="l">
              <a:lnSpc>
                <a:spcPct val="118000"/>
              </a:lnSpc>
              <a:buFont typeface="+mj-ea"/>
              <a:buAutoNum type="ea1JpnChsDbPeriod"/>
            </a:pPr>
            <a:r>
              <a:rPr lang="zh-CN" altLang="en-US" sz="3480" b="1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加好友，怎么加不封号</a:t>
            </a:r>
            <a:endParaRPr lang="zh-CN" altLang="en-US" sz="3480" b="1">
              <a:solidFill>
                <a:srgbClr val="1A1A1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571500" indent="-571500" algn="l">
              <a:lnSpc>
                <a:spcPct val="118000"/>
              </a:lnSpc>
              <a:buFont typeface="+mj-ea"/>
              <a:buAutoNum type="ea1JpnChsDbPeriod"/>
            </a:pPr>
            <a:r>
              <a:rPr lang="zh-CN" altLang="en-US" sz="3480" b="1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群发怎么发，号才活得久</a:t>
            </a:r>
            <a:endParaRPr lang="zh-CN" altLang="en-US" sz="3480" b="1">
              <a:solidFill>
                <a:srgbClr val="1A1A1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8000"/>
              </a:lnSpc>
            </a:pPr>
            <a:endParaRPr lang="zh-CN" sz="3480" b="1">
              <a:solidFill>
                <a:srgbClr val="1A1A1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2528011"/>
            <a:ext cx="1575815" cy="304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2573731"/>
            <a:ext cx="1575815" cy="3206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44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PART 0</a:t>
            </a:r>
            <a:r>
              <a:rPr lang="en-US" sz="144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r>
              <a:rPr sz="144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/ 0</a:t>
            </a:r>
            <a:r>
              <a:rPr lang="en-US" sz="144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lang="en-US" sz="144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0" y="2893771"/>
            <a:ext cx="10668000" cy="1056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648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货</a:t>
            </a:r>
            <a:r>
              <a:rPr lang="zh-CN" altLang="en-US" sz="648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源与库存合规</a:t>
            </a:r>
            <a:endParaRPr lang="zh-CN" altLang="en-US" sz="648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3903268"/>
            <a:ext cx="10668000" cy="4389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80" b="1">
                <a:solidFill>
                  <a:srgbClr val="FFD16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来源、登记、假货去哪儿</a:t>
            </a:r>
            <a:endParaRPr sz="2880" b="1">
              <a:solidFill>
                <a:srgbClr val="FFD16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79120"/>
            <a:ext cx="8534400" cy="2343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40" b="1">
                <a:solidFill>
                  <a:srgbClr val="FF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货</a:t>
            </a:r>
            <a:r>
              <a:rPr lang="zh-CN" altLang="en-US" sz="1440" b="1">
                <a:solidFill>
                  <a:srgbClr val="FF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源与库存合规</a:t>
            </a:r>
            <a:endParaRPr lang="zh-CN" altLang="en-US" sz="1440" b="1">
              <a:solidFill>
                <a:srgbClr val="FF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2000" y="981456"/>
            <a:ext cx="8534400" cy="5052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571500" indent="-571500" algn="l">
              <a:lnSpc>
                <a:spcPct val="118000"/>
              </a:lnSpc>
              <a:buFont typeface="+mj-ea"/>
              <a:buAutoNum type="ea1JpnChsDbPeriod"/>
            </a:pPr>
            <a:r>
              <a:rPr sz="3480" b="1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先谈价，后鉴定</a:t>
            </a:r>
            <a:endParaRPr sz="3480" b="1">
              <a:solidFill>
                <a:srgbClr val="1A1A1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  <a:sym typeface="+mn-ea"/>
            </a:endParaRPr>
          </a:p>
          <a:p>
            <a:pPr marL="571500" indent="-571500" algn="l">
              <a:lnSpc>
                <a:spcPct val="118000"/>
              </a:lnSpc>
              <a:buFont typeface="+mj-ea"/>
              <a:buAutoNum type="ea1JpnChsDbPeriod"/>
            </a:pPr>
            <a:r>
              <a:rPr lang="zh-CN" altLang="en-US" sz="3480" b="1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学会说</a:t>
            </a:r>
            <a:r>
              <a:rPr lang="en-US" altLang="zh-CN" sz="3480" b="1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"</a:t>
            </a:r>
            <a:r>
              <a:rPr lang="zh-CN" altLang="en-US" sz="3480" b="1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我不收</a:t>
            </a:r>
            <a:r>
              <a:rPr lang="en-US" altLang="zh-CN" sz="3480" b="1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"</a:t>
            </a:r>
            <a:endParaRPr lang="en-US" altLang="zh-CN" sz="3480" b="1">
              <a:solidFill>
                <a:srgbClr val="1A1A1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  <a:sym typeface="+mn-ea"/>
            </a:endParaRPr>
          </a:p>
          <a:p>
            <a:pPr marL="571500" indent="-571500" algn="l">
              <a:lnSpc>
                <a:spcPct val="118000"/>
              </a:lnSpc>
              <a:buFont typeface="+mj-ea"/>
              <a:buAutoNum type="ea1JpnChsDbPeriod"/>
            </a:pPr>
            <a:r>
              <a:rPr sz="3480" b="1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你不</a:t>
            </a:r>
            <a:r>
              <a:rPr lang="zh-CN" sz="3480" b="1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是</a:t>
            </a:r>
            <a:r>
              <a:rPr sz="3480" b="1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鉴定师</a:t>
            </a:r>
            <a:r>
              <a:rPr lang="zh-CN" sz="3480" b="1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，你是老板</a:t>
            </a:r>
            <a:endParaRPr lang="zh-CN" sz="3480" b="1">
              <a:solidFill>
                <a:srgbClr val="1A1A1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  <a:sym typeface="+mn-ea"/>
            </a:endParaRPr>
          </a:p>
          <a:p>
            <a:pPr marL="571500" indent="-571500" algn="l">
              <a:lnSpc>
                <a:spcPct val="118000"/>
              </a:lnSpc>
              <a:buFont typeface="+mj-ea"/>
              <a:buAutoNum type="ea1JpnChsDbPeriod"/>
            </a:pPr>
            <a:r>
              <a:rPr lang="zh-CN" altLang="en-US" sz="3480" b="1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货压在手上，钱就死了</a:t>
            </a:r>
            <a:endParaRPr lang="zh-CN" altLang="en-US" sz="3480" b="1">
              <a:solidFill>
                <a:srgbClr val="1A1A1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  <a:sym typeface="+mn-ea"/>
            </a:endParaRPr>
          </a:p>
          <a:p>
            <a:pPr marL="571500" indent="-571500" algn="l">
              <a:lnSpc>
                <a:spcPct val="118000"/>
              </a:lnSpc>
              <a:buFont typeface="+mj-ea"/>
              <a:buAutoNum type="ea1JpnChsDbPeriod"/>
            </a:pPr>
            <a:r>
              <a:rPr lang="zh-CN" altLang="en-US" sz="3480" b="1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养护过的，一定要说</a:t>
            </a:r>
            <a:endParaRPr lang="zh-CN" altLang="en-US" sz="3480" b="1">
              <a:solidFill>
                <a:srgbClr val="1A1A1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  <a:sym typeface="+mn-ea"/>
            </a:endParaRPr>
          </a:p>
          <a:p>
            <a:pPr marL="571500" indent="-571500" algn="l">
              <a:lnSpc>
                <a:spcPct val="118000"/>
              </a:lnSpc>
              <a:buFont typeface="+mj-ea"/>
              <a:buAutoNum type="ea1JpnChsDbPeriod"/>
            </a:pPr>
            <a:r>
              <a:rPr lang="zh-CN" altLang="en-US" sz="3480" b="1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一件假货，够你喝一壶</a:t>
            </a:r>
            <a:endParaRPr lang="zh-CN" altLang="en-US" sz="3480" b="1">
              <a:solidFill>
                <a:srgbClr val="1A1A1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  <a:sym typeface="+mn-ea"/>
            </a:endParaRPr>
          </a:p>
          <a:p>
            <a:pPr marL="571500" indent="-571500" algn="l">
              <a:lnSpc>
                <a:spcPct val="118000"/>
              </a:lnSpc>
              <a:buFont typeface="+mj-ea"/>
              <a:buAutoNum type="ea1JpnChsDbPeriod"/>
            </a:pPr>
            <a:r>
              <a:rPr lang="zh-CN" altLang="en-US" sz="3480" b="1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全新品，走私碰不得</a:t>
            </a:r>
            <a:endParaRPr lang="zh-CN" altLang="en-US" sz="3480" b="1">
              <a:solidFill>
                <a:srgbClr val="1A1A1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8000"/>
              </a:lnSpc>
            </a:pPr>
            <a:endParaRPr sz="3480" b="1">
              <a:solidFill>
                <a:srgbClr val="1A1A1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2528011"/>
            <a:ext cx="1575815" cy="304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2573731"/>
            <a:ext cx="1575815" cy="3206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44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PART 0</a:t>
            </a:r>
            <a:r>
              <a:rPr lang="en-US" sz="144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r>
              <a:rPr sz="144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/ 0</a:t>
            </a:r>
            <a:r>
              <a:rPr lang="en-US" sz="144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lang="en-US" sz="144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1985" y="2839161"/>
            <a:ext cx="10668000" cy="1056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lang="zh-CN" altLang="en-US" sz="648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资金、税票、合同与团队</a:t>
            </a:r>
            <a:endParaRPr lang="zh-CN" altLang="en-US" sz="648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3903268"/>
            <a:ext cx="10668000" cy="4389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80" b="1">
                <a:solidFill>
                  <a:srgbClr val="FFD16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进项票与账户</a:t>
            </a:r>
            <a:endParaRPr sz="2880" b="1">
              <a:solidFill>
                <a:srgbClr val="FFD16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79120"/>
            <a:ext cx="8534400" cy="2343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lang="zh-CN" altLang="en-US" sz="1440" b="1">
                <a:solidFill>
                  <a:srgbClr val="FF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资金、税票、合同与团队</a:t>
            </a:r>
            <a:endParaRPr lang="zh-CN" altLang="en-US" sz="1440" b="1">
              <a:solidFill>
                <a:srgbClr val="FF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2000" y="981456"/>
            <a:ext cx="8534400" cy="37890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571500" indent="-571500" algn="l">
              <a:lnSpc>
                <a:spcPct val="118000"/>
              </a:lnSpc>
              <a:buFont typeface="+mj-ea"/>
              <a:buAutoNum type="ea1JpnChsDbPeriod"/>
            </a:pPr>
            <a:r>
              <a:rPr sz="3480" b="1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登记不是形式，是护身符</a:t>
            </a:r>
            <a:endParaRPr sz="3480" b="1">
              <a:solidFill>
                <a:srgbClr val="1A1A1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  <a:sym typeface="+mn-ea"/>
            </a:endParaRPr>
          </a:p>
          <a:p>
            <a:pPr marL="571500" indent="-571500" algn="l">
              <a:lnSpc>
                <a:spcPct val="118000"/>
              </a:lnSpc>
              <a:buFont typeface="+mj-ea"/>
              <a:buAutoNum type="ea1JpnChsDbPeriod"/>
            </a:pPr>
            <a:r>
              <a:rPr lang="zh-CN" altLang="en-US" sz="3480" b="1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毛利很高，为什么不赚钱</a:t>
            </a:r>
            <a:endParaRPr lang="zh-CN" altLang="en-US" sz="3480" b="1">
              <a:solidFill>
                <a:srgbClr val="1A1A1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571500" indent="-571500" algn="l">
              <a:lnSpc>
                <a:spcPct val="118000"/>
              </a:lnSpc>
              <a:buFont typeface="+mj-ea"/>
              <a:buAutoNum type="ea1JpnChsDbPeriod"/>
            </a:pPr>
            <a:r>
              <a:rPr lang="zh-CN" altLang="en-US" sz="3480" b="1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票开错了，比不开还麻烦</a:t>
            </a:r>
            <a:endParaRPr lang="zh-CN" altLang="en-US" sz="3480" b="1">
              <a:solidFill>
                <a:srgbClr val="1A1A1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571500" indent="-571500" algn="l">
              <a:lnSpc>
                <a:spcPct val="118000"/>
              </a:lnSpc>
              <a:buFont typeface="+mj-ea"/>
              <a:buAutoNum type="ea1JpnChsDbPeriod"/>
            </a:pPr>
            <a:r>
              <a:rPr lang="zh-CN" altLang="en-US" sz="3480" b="1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合同签对，少赔一半</a:t>
            </a:r>
            <a:endParaRPr lang="zh-CN" altLang="en-US" sz="3480" b="1">
              <a:solidFill>
                <a:srgbClr val="1A1A1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571500" indent="-571500" algn="l">
              <a:lnSpc>
                <a:spcPct val="118000"/>
              </a:lnSpc>
              <a:buFont typeface="+mj-ea"/>
              <a:buAutoNum type="ea1JpnChsDbPeriod"/>
            </a:pPr>
            <a:r>
              <a:rPr lang="zh-CN" altLang="en-US" sz="3480" b="1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最怕的不是同行，是内鬼</a:t>
            </a:r>
            <a:endParaRPr lang="zh-CN" altLang="en-US" sz="3480" b="1">
              <a:solidFill>
                <a:srgbClr val="1A1A1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571500" indent="-571500" algn="l">
              <a:lnSpc>
                <a:spcPct val="118000"/>
              </a:lnSpc>
              <a:buFont typeface="+mj-ea"/>
              <a:buAutoNum type="ea1JpnChsDbPeriod"/>
            </a:pPr>
            <a:r>
              <a:rPr lang="zh-CN" altLang="en-US" sz="3480" b="1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客诉怎么接，才不越闹越大</a:t>
            </a:r>
            <a:endParaRPr lang="zh-CN" altLang="en-US" sz="3480" b="1">
              <a:solidFill>
                <a:srgbClr val="1A1A1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79120"/>
            <a:ext cx="853440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40" b="1">
                <a:solidFill>
                  <a:srgbClr val="6B6B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最后一句</a:t>
            </a:r>
            <a:endParaRPr sz="1440" b="1">
              <a:solidFill>
                <a:srgbClr val="6B6B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2000" y="1945386"/>
            <a:ext cx="8534400" cy="12630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altLang="en-US" sz="3480" b="1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在这个行业里</a:t>
            </a:r>
            <a:r>
              <a:rPr lang="zh-CN" altLang="en-US" sz="3480" b="1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能活多久，</a:t>
            </a:r>
            <a:endParaRPr lang="zh-CN" altLang="en-US" sz="3480" b="1">
              <a:solidFill>
                <a:srgbClr val="1A1A1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8000"/>
              </a:lnSpc>
            </a:pPr>
            <a:r>
              <a:rPr lang="zh-CN" altLang="en-US" sz="3480" b="1">
                <a:solidFill>
                  <a:srgbClr val="1A1A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决定了你能不能赚到钱</a:t>
            </a:r>
            <a:endParaRPr lang="zh-CN" altLang="en-US" sz="3480" b="1">
              <a:solidFill>
                <a:srgbClr val="1A1A1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2000" y="4776825"/>
            <a:ext cx="853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40" b="0">
                <a:solidFill>
                  <a:srgbClr val="6B6B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—— 一周一课 · 2026.08.05 · 闫亚老师</a:t>
            </a:r>
            <a:endParaRPr sz="1440" b="0">
              <a:solidFill>
                <a:srgbClr val="6B6B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638</Words>
  <Application>WPS 演示</Application>
  <PresentationFormat>On-screen Show (4:3)</PresentationFormat>
  <Paragraphs>98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Arial</vt:lpstr>
      <vt:lpstr>PingFang SC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闫亚zz</cp:lastModifiedBy>
  <cp:revision>5</cp:revision>
  <dcterms:created xsi:type="dcterms:W3CDTF">2026-08-04T08:14:25Z</dcterms:created>
  <dcterms:modified xsi:type="dcterms:W3CDTF">2026-08-04T08:14:25Z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2052-12.1.24709.24709</vt:lpwstr>
  </property>
  <property fmtid="{D5CDD505-2E9C-101B-9397-08002B2CF9AE}" pid="3" name="ICV">
    <vt:lpwstr>8A441791BCBFC8FCA281716A592F63B2_42</vt:lpwstr>
  </property>
</Properties>
</file>