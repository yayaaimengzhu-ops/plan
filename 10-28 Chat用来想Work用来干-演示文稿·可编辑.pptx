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封面（约 30 秒）</a:t>
            </a:r>
          </a:p>
          <a:p/>
          <a:p>
            <a:r>
              <a:t>要讲清楚的事：今天讲什么。</a:t>
            </a:r>
          </a:p>
          <a:p/>
          <a:p>
            <a:r>
              <a:t>“今天这节课讲 AI。不讲怎么注册，也不讲哪个软件最火。就讲一件事：AI 已经从‘会聊天’走到‘会干活’了，二奢老板该怎么分工，哪些事让它陪你想，哪些活让它替你干。”</a:t>
            </a:r>
          </a:p>
          <a:p/>
          <a:p>
            <a:r>
              <a:t>过渡：先摸个底。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你现在用 AI 最多干什么（约 1 分 30 秒）</a:t>
            </a:r>
          </a:p>
          <a:p/>
          <a:p>
            <a:r>
              <a:t>要讲清楚的事：摸清学员现在用到哪一步，后面好对症。</a:t>
            </a:r>
          </a:p>
          <a:p/>
          <a:p>
            <a:r>
              <a:t>“大家公屏打个数字：你现在用 AI 最多干什么？1 问问题、搜东西，2 写文案，3 做图，4 基本没用。说实话就行，没人笑话你。”</a:t>
            </a:r>
          </a:p>
          <a:p/>
          <a:p>
            <a:r>
              <a:t>- 念几个公屏上的回答。大概率 1 和 2 最多。</a:t>
            </a:r>
          </a:p>
          <a:p>
            <a:r>
              <a:t>- 记住这个结果，第 9 页讲“大部分人还停在 1.0”时要用。</a:t>
            </a:r>
          </a:p>
          <a:p/>
          <a:p>
            <a:r>
              <a:t>注意：10/7 课上问过两次“AI 有没有在用”，都没人回答。今天点名问，先把气氛带起来。</a:t>
            </a:r>
          </a:p>
          <a:p/>
          <a:p>
            <a:r>
              <a:t>过渡：</a:t>
            </a:r>
          </a:p>
          <a:p>
            <a:r>
              <a:t>“好，同样一个任务，我让 AI 用两种方式干，大家看结果有什么不一样。”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同一个任务，两种结果（约 1 分 30 秒）</a:t>
            </a:r>
          </a:p>
          <a:p/>
          <a:p>
            <a:r>
              <a:t>要讲清楚的事：同样是 AI，一个给你一段话，一个交给你一个做好的东西。</a:t>
            </a:r>
          </a:p>
          <a:p/>
          <a:p>
            <a:r>
              <a:t>演示：</a:t>
            </a:r>
          </a:p>
          <a:p>
            <a:r>
              <a:t>- 放课前截好的两张图，任务都是“根据这段录音，写下周 7 条朋友圈”。</a:t>
            </a:r>
          </a:p>
          <a:p>
            <a:r>
              <a:t>- 这页 PPT 里没有放图，你把截图贴进来，或者现场切屏。</a:t>
            </a:r>
          </a:p>
          <a:p/>
          <a:p>
            <a:r>
              <a:t>“左边是在聊天框里做的。它给我一大段文字，我还得自己复制、整理、一条条存起来。”</a:t>
            </a:r>
          </a:p>
          <a:p/>
          <a:p>
            <a:r>
              <a:t>“右边是在 WorkBuddy 里做的。我回来一看，文件夹里多了一张表格，周一到周日、正文、配图建议，都排好了。”</a:t>
            </a:r>
          </a:p>
          <a:p/>
          <a:p>
            <a:r>
              <a:t>“同样是 AI，一个陪你聊，一个替你干。今天就讲清楚：什么时候聊，什么时候派活。”</a:t>
            </a:r>
          </a:p>
          <a:p/>
          <a:p>
            <a:r>
              <a:t>过渡：先把今天这句话放在这儿。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今天只讲一件事（约 30 秒）</a:t>
            </a:r>
          </a:p>
          <a:p/>
          <a:p>
            <a:r>
              <a:t>“今天只讲一句话：Chat 用来想，Work 用来干。先在 Chat 里把事想清楚，再把活派给 Work。你自己只做两件事：给素材，做判断。这句话下课前我还会再说一遍。”</a:t>
            </a:r>
          </a:p>
          <a:p/>
          <a:p>
            <a:r>
              <a:t>过渡：看一下今天怎么走。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今天的路线（约 30 秒）</a:t>
            </a:r>
          </a:p>
          <a:p/>
          <a:p>
            <a:r>
              <a:t>“今天分三段。第一段破认知：AI 到底是什么，Chat 和 Work 有什么区别，大家用 AI 最常见的八个误区。第二段讲怎么做。第三段我现场演示。边讲边演示，下课你能带走两个能直接复制的提示词。”</a:t>
            </a:r>
          </a:p>
          <a:p/>
          <a:p>
            <a:r>
              <a:t>过渡：先从最基础的说起。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01 破认知（约 10 秒）</a:t>
            </a:r>
          </a:p>
          <a:p/>
          <a:p>
            <a:r>
              <a:t>“第一部分，先把认知掰正：AI 走到哪一步了。”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一个读过海量资料的实习生（约 2 分 30 秒）</a:t>
            </a:r>
          </a:p>
          <a:p/>
          <a:p>
            <a:r>
              <a:t>要讲清楚的事：AI 很能干，但它对你一无所知，你得“喂”它。这一页给后面的“派活五件套”打底。</a:t>
            </a:r>
          </a:p>
          <a:p/>
          <a:p>
            <a:r>
              <a:t>“你们店里招过实习生吧？AI 就像一个新来的实习生，只不过他把全世界的书都读完了。”</a:t>
            </a:r>
          </a:p>
          <a:p/>
          <a:p>
            <a:r>
              <a:t>“先说它的好：聪明、勤快、不睡觉。半夜十二点让它写 50 条文案，它不会跟你抱怨。你一年的流水表扔给它，几秒钟就读完了。一个月的客户聊天记录，你自己翻要一下午，它几分钟就能整理出客户最常问的 10 个问题。”</a:t>
            </a:r>
          </a:p>
          <a:p/>
          <a:p>
            <a:r>
              <a:t>“但是它不认识你的店，也不认识你的客户。它不知道你是做回收还是做寄卖，不知道你的客户是宝妈还是做生意的老板，也不知道你平时说话什么口气。你不告诉它，它就按‘所有人’的样子写。写出来像所有人，这就是 AI 味。”</a:t>
            </a:r>
          </a:p>
          <a:p/>
          <a:p>
            <a:r>
              <a:t>“它也不知道今天的行情。这周 LV 二手价跌没跌，今天金价多少，平台上个月出了什么新规，它不一定知道。就算能联网，查到的也只是网上公开的，查不到你们圈子里真实的成交价。”</a:t>
            </a:r>
          </a:p>
          <a:p/>
          <a:p>
            <a:r>
              <a:t>“最要命的是：它不懂的时候不会说不知道，它会编，而且编得很像真的。你问它某款包现在回收多少钱，它能给你一个特别具体的数字。这在行业里叫‘幻觉’。所以价格、行情、平台规定、法律条文，AI 说的只能当线索，一律自己核实。”</a:t>
            </a:r>
          </a:p>
          <a:p/>
          <a:p>
            <a:r>
              <a:t>“它能干多好，取决于你给它多少。实习生第一天什么都不懂，你带他一个月就好用了。我 3 月份就说过：没有数据积累，它就永远是个新员工。”</a:t>
            </a:r>
          </a:p>
          <a:p/>
          <a:p>
            <a:r>
              <a:t>可选演示：</a:t>
            </a:r>
          </a:p>
          <a:p>
            <a:r>
              <a:t>- 现场问 AI：“LV Neverfull 中号九成新，现在二手回收价多少？”</a:t>
            </a:r>
          </a:p>
          <a:p>
            <a:r>
              <a:t>- 等它报出一个数字，再问学员：“这个价你敢直接报给客户吗？”</a:t>
            </a:r>
          </a:p>
          <a:p>
            <a:r>
              <a:t>- AI 每次回答不一样，课前先试一次，把它编出数字的那次截图备用。</a:t>
            </a:r>
          </a:p>
          <a:p/>
          <a:p>
            <a:r>
              <a:t>互动：“你被 AI 一本正经地骗过吗？骗过的扣 1。”</a:t>
            </a:r>
          </a:p>
          <a:p/>
          <a:p>
            <a:r>
              <a:t>过渡：</a:t>
            </a:r>
          </a:p>
          <a:p>
            <a:r>
              <a:t>“这个实习生聪不聪明，和他能干什么活，其实是两回事。”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模型是大脑，工具是工位（约 2 分钟）</a:t>
            </a:r>
          </a:p>
          <a:p/>
          <a:p>
            <a:r>
              <a:t>要讲清楚的事：AI 好不好用看两样，大脑和工位，很多人把这两样搞混了。</a:t>
            </a:r>
          </a:p>
          <a:p/>
          <a:p>
            <a:r>
              <a:t>“很多人说‘我用的是豆包’。可豆包既是一个大脑的名字，也是一个 App 的名字。今天先把这两个词分清楚。”</a:t>
            </a:r>
          </a:p>
          <a:p/>
          <a:p>
            <a:r>
              <a:t>“DeepSeek、豆包、Kimi、智谱，这些是大脑，决定它聪不聪明。哪个最好用，别听别人说。同一个活让两三个大脑都干一遍，比一比就知道了。”</a:t>
            </a:r>
          </a:p>
          <a:p/>
          <a:p>
            <a:r>
              <a:t>“工具是工位，决定它能干什么活。你店里一个懂行的师傅，坐在柜台他接待客人，坐在验货台他查验，进了仓库他盘库存。还是同一个人，换了工位，干的活不一样。”</a:t>
            </a:r>
          </a:p>
          <a:p/>
          <a:p>
            <a:r>
              <a:t>“AI 也一样。坐在聊天框这个工位上，它只能陪你聊。坐进 WorkBuddy，就等于给它配了一台电脑：能读你的文件夹、改表格、定时干活、往微信推消息。WorkBuddy 里面还能换大脑。同一个大脑，放进聊天框是参谋，放进 WorkBuddy 就是员工。”</a:t>
            </a:r>
          </a:p>
          <a:p/>
          <a:p>
            <a:r>
              <a:t>“分清了这两样，你就不会再犯三个错。第一，别再问‘哪个 AI 最好’，先问‘我要它干什么活’，先挑工位，再挑大脑。第二，觉得 AI 不行，很多时候不是大脑笨，是工位不对。第三，新模型天天出，你不用天天换工具，换个大脑就行。”</a:t>
            </a:r>
          </a:p>
          <a:p/>
          <a:p>
            <a:r>
              <a:t>“最后说下成本：大脑干活要‘烧’积分，也就是 Token。越聪明的大脑越贵，文件越长越贵。简单的活用便宜的大脑，难的活再换好的。2 月份讲过：Token 就是成本。”</a:t>
            </a:r>
          </a:p>
          <a:p/>
          <a:p>
            <a:r>
              <a:t>互动：“你现在主要坐在哪个工位上？1 豆包 App，2 DeepSeek，3 WorkBuddy，4 AI 大脑。”</a:t>
            </a:r>
          </a:p>
          <a:p/>
          <a:p>
            <a:r>
              <a:t>注意：</a:t>
            </a:r>
          </a:p>
          <a:p>
            <a:r>
              <a:t>- 不说具体哪个模型最好，也不报价格。</a:t>
            </a:r>
          </a:p>
          <a:p>
            <a:r>
              <a:t>- 10/7 课上说的两个优惠已经过期，别再讲。</a:t>
            </a:r>
          </a:p>
          <a:p/>
          <a:p>
            <a:r>
              <a:t>过渡：</a:t>
            </a:r>
          </a:p>
          <a:p>
            <a:r>
              <a:t>“工位决定了 AI 能干到哪一步。AI 这几年是怎么一步步走过来的？”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的三个阶段（约 2 分 30 秒）</a:t>
            </a:r>
          </a:p>
          <a:p/>
          <a:p>
            <a:r>
              <a:t>要讲清楚的事：1.0 会聊、2.0 会想、3.0 会干。今天要学的就是用好 2.0 和 3.0。</a:t>
            </a:r>
          </a:p>
          <a:p/>
          <a:p>
            <a:r>
              <a:t>“先说一句，这是我自己的分法，年份也是个大概。”</a:t>
            </a:r>
          </a:p>
          <a:p/>
          <a:p>
            <a:r>
              <a:t>“1.0 会聊天。2023 年前后，你问它‘帮我写一条卖 LV 的朋友圈’，它给你一段话，你复制粘贴。问一句答一句，它就是个高级点的搜索框。”</a:t>
            </a:r>
          </a:p>
          <a:p/>
          <a:p>
            <a:r>
              <a:t>“2.0 会思考。2025 年前后，比如 DeepSeek 深度思考火起来那阵，它会先想再答，还能联网查资料。你问它‘双 11 我店里该搞什么活动’，它会分析你的情况，列几套方案，讲每套的好处和坑。这时候它是你的参谋。”</a:t>
            </a:r>
          </a:p>
          <a:p/>
          <a:p>
            <a:r>
              <a:t>“3.0 会干活。现在你跟它说：‘把这个文件夹里的录音做成下周 7 条朋友圈，存成表格。’它自己打开文件、写好、存好，还能每天早上把当天那条推到你微信上。这时候它就是员工。”</a:t>
            </a:r>
          </a:p>
          <a:p/>
          <a:p>
            <a:r>
              <a:t>“这不是 AI 换了一个更聪明的，是它长本事了：1.0 只有一张嘴，2.0 多了个脑子，3.0 又长出一双手。3.0 来了也不是说前面两样没用了，这三样本事现在一个工具里基本都有，就看你会不会用。”</a:t>
            </a:r>
          </a:p>
          <a:p/>
          <a:p>
            <a:r>
              <a:t>按第 2 页公屏的结果说。如果大部分人打的是 1 和 2：</a:t>
            </a:r>
          </a:p>
          <a:p/>
          <a:p>
            <a:r>
              <a:t>“刚才开场，大部分人打的是 1 和 2：问问题、写文案。工具早就是 3.0 的了，用法还停在 1.0。今天要升两级：要想的事用 2.0，也就是 Chat；要干的活用 3.0，也就是 Work。”</a:t>
            </a:r>
          </a:p>
          <a:p/>
          <a:p>
            <a:r>
              <a:t>互动：“你现在停在几点零？1.0 扣 1，2.0 扣 2，3.0 扣 3。”</a:t>
            </a:r>
          </a:p>
          <a:p/>
          <a:p>
            <a:r>
              <a:t>注意：年份只说“大概”，DeepSeek 说“火起来那阵”就行，不说具体哪个月。</a:t>
            </a:r>
          </a:p>
          <a:p/>
          <a:p>
            <a:r>
              <a:t>过渡：“3.0 到底能干到哪一步？”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它在你的电脑上干活（约 1 分 30 秒）</a:t>
            </a:r>
          </a:p>
          <a:p/>
          <a:p>
            <a:r>
              <a:t>要讲清楚的事：3.0 交给你的不是一段话，是做好的东西。</a:t>
            </a:r>
          </a:p>
          <a:p/>
          <a:p>
            <a:r>
              <a:t>“拿一个真实的活来走一遍。周日晚上，我跟它说一句话：读这个文件夹里的录音，写下周 7 条朋友圈。”</a:t>
            </a:r>
          </a:p>
          <a:p/>
          <a:p>
            <a:r>
              <a:t>“它先打开文件夹，读录音逐字稿。读完写 7 条，写完存成一张表格，放回文件夹。我再给它设个定时任务，每天早上 9 点把当天那条推到我微信上，我拿起手机配图、发出去就行。”</a:t>
            </a:r>
          </a:p>
          <a:p/>
          <a:p>
            <a:r>
              <a:t>“你看这一整串，读文件、写、存、推送，中间不用我动手。我只做开头的派活和最后的验收。交给你的不是一段话，是做好的东西。”</a:t>
            </a:r>
          </a:p>
          <a:p/>
          <a:p>
            <a:r>
              <a:t>“这些零件我们以前都讲过：3 月份讲‘普通 AI 是小工，智能体是包工头’，6 月份讲 WorkBuddy，8 月份讲‘一个文件夹就是一个智能体’。今天把它们串起来。”</a:t>
            </a:r>
          </a:p>
          <a:p/>
          <a:p>
            <a:r>
              <a:t>互动：“有谁已经设过定时任务的，扣 1。”</a:t>
            </a:r>
          </a:p>
          <a:p/>
          <a:p>
            <a:r>
              <a:t>过渡：“那什么事该让它聊，什么事该让它干？我们逐行对照。”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Chat 和 Work 的区别（约 2 分 30 秒）</a:t>
            </a:r>
          </a:p>
          <a:p/>
          <a:p>
            <a:r>
              <a:t>要讲清楚的事：Chat 适合没想清楚的事，Work 适合想清楚的、重复的、量大的事。</a:t>
            </a:r>
          </a:p>
          <a:p/>
          <a:p>
            <a:r>
              <a:t>逐行讲，每行一句话，最后用“双 11”这个例子收住。</a:t>
            </a:r>
          </a:p>
          <a:p/>
          <a:p>
            <a:r>
              <a:t>“像谁：Chat 是参谋，陪你想；Work 是包工头，替你干。”</a:t>
            </a:r>
          </a:p>
          <a:p/>
          <a:p>
            <a:r>
              <a:t>“你给它什么：Chat，你给一个问题、一段想法；Work，你给一个文件夹，加一件交代清楚的活。”</a:t>
            </a:r>
          </a:p>
          <a:p/>
          <a:p>
            <a:r>
              <a:t>“它交给你什么：Chat 给你一段回答、一个思路；Work 给你一个做好的文件。”</a:t>
            </a:r>
          </a:p>
          <a:p/>
          <a:p>
            <a:r>
              <a:t>“怎么用：Chat 要来回追问，最好让它反问你；Work 要先把标准讲清楚，最后验收。”</a:t>
            </a:r>
          </a:p>
          <a:p/>
          <a:p>
            <a:r>
              <a:t>“最关键是这一行，适合什么事。拿双 11 举例：活动怎么搞还没想好，用 Chat，跟它聊出方案。方案定了，要出 30 条朋友圈、一套私信、海报上的字，这就是 Work 的活。”</a:t>
            </a:r>
          </a:p>
          <a:p/>
          <a:p>
            <a:r>
              <a:t>“最后看风险：Chat 最大的风险是一本正经地编；Work 最大的风险是动错文件、把隐私交出去。所以 Work 只给它一个文件夹，客户信息先删掉，后面会细讲。”</a:t>
            </a:r>
          </a:p>
          <a:p/>
          <a:p>
            <a:r>
              <a:t>过渡：“这么多行记不住没关系，下一页一句话记住。”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Chat 是参谋，Work 是包工头（约 1 分钟）</a:t>
            </a:r>
          </a:p>
          <a:p/>
          <a:p>
            <a:r>
              <a:t>“记住一句就够：Chat 是参谋，陪你想，你得在场，它问你答。Work 是包工头，替你干，交代清楚你就走开，回来验收。”</a:t>
            </a:r>
          </a:p>
          <a:p/>
          <a:p>
            <a:r>
              <a:t>“两种用反了的情况，我见得最多。第一种：事还没想清楚，一上来就让 Work 写双 11 文案，它很快干出一堆，你一条都用不上。第二种：在聊天框里一条一条让它写 7 条朋友圈，复制 7 次、粘贴 7 次，你自己成了搬运工。”</a:t>
            </a:r>
          </a:p>
          <a:p/>
          <a:p>
            <a:r>
              <a:t>“想不清楚的事，别急着派活；想清楚了，就别一句一句聊。”</a:t>
            </a:r>
          </a:p>
          <a:p/>
          <a:p>
            <a:r>
              <a:t>过渡：“落到二奢店里，哪些事该聊，哪些事该干？我给大家列了一张分工清单。”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 Chat 想的 6 件事（约 2 分 30 秒）</a:t>
            </a:r>
          </a:p>
          <a:p/>
          <a:p>
            <a:r>
              <a:t>要讲清楚的事：这 6 件事的共同点是你得在场。它陪你想，最后你拍板。</a:t>
            </a:r>
          </a:p>
          <a:p/>
          <a:p>
            <a:r>
              <a:t>每条用一句话举例：</a:t>
            </a:r>
          </a:p>
          <a:p/>
          <a:p>
            <a:r>
              <a:t>“第一，定位。10/14 那节讲了三角图，可定位句自己一个人写，很难写清楚。让它反问你，问着问着就清楚了，等会儿我现场做。”</a:t>
            </a:r>
          </a:p>
          <a:p/>
          <a:p>
            <a:r>
              <a:t>“第二，活动方案。双 11 还有两周，先让它帮你搭个框架：做什么活动，给谁，怎么通知。”</a:t>
            </a:r>
          </a:p>
          <a:p/>
          <a:p>
            <a:r>
              <a:t>“第三，话术陪练。跟它说：‘你扮演一个只想白嫖估价的客户。’你来接，接完让它给你打分。”</a:t>
            </a:r>
          </a:p>
          <a:p/>
          <a:p>
            <a:r>
              <a:t>“第四，选题。一个爆款，只换人群、换品牌，就能出 30 个，等会儿也现场做。”</a:t>
            </a:r>
          </a:p>
          <a:p/>
          <a:p>
            <a:r>
              <a:t>“第五，复盘。把这个月的咨询数、成交数、超 30 天的库存说给它，让它问你问题。”</a:t>
            </a:r>
          </a:p>
          <a:p/>
          <a:p>
            <a:r>
              <a:t>“第六，学新规。平台出了新规，让它用大白话讲给你听。但最后一定看原文，因为它会编。”</a:t>
            </a:r>
          </a:p>
          <a:p/>
          <a:p>
            <a:r>
              <a:t>互动：“这 6 件里，你最想先做哪件？打序号。”</a:t>
            </a:r>
          </a:p>
          <a:p/>
          <a:p>
            <a:r>
              <a:t>过渡：“这是想的部分。干的部分呢？”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 Work 干的 6 件事（约 2 分 30 秒）</a:t>
            </a:r>
          </a:p>
          <a:p/>
          <a:p>
            <a:r>
              <a:t>要讲清楚的事：这 6 件的共同点是量大、重复、格式固定。交代清楚，就可以走开。</a:t>
            </a:r>
          </a:p>
          <a:p/>
          <a:p>
            <a:r>
              <a:t>“第一，录音变朋友圈。你平时接待客户、拍视频、开车路上说的话，录下来，它给你出一周 7 条。等会儿现场演示。”</a:t>
            </a:r>
          </a:p>
          <a:p/>
          <a:p>
            <a:r>
              <a:t>“第二，批量上新文案。一个文件夹里放 20 只货的信息，它给你每只写一段描述。成色、瑕疵它照你给的写，你最后核一遍。”</a:t>
            </a:r>
          </a:p>
          <a:p/>
          <a:p>
            <a:r>
              <a:t>“第三，库存预警。库存表给它，它把超过 30 天的货按压款金额排出来，每只给一句建议。7 月份讲周转纪律就说过：超 30 天的货要有处理方案。”</a:t>
            </a:r>
          </a:p>
          <a:p/>
          <a:p>
            <a:r>
              <a:t>“第四，直播回放。回放转成文字给它，它给你出切片选题和口播稿。”</a:t>
            </a:r>
          </a:p>
          <a:p/>
          <a:p>
            <a:r>
              <a:t>“第五，客户分层。把成交记录里的姓名、电话删掉再给它，它帮你按买过的、卖过的、只咨询过的分好层，方便打标签。”</a:t>
            </a:r>
          </a:p>
          <a:p/>
          <a:p>
            <a:r>
              <a:t>“第六，定时任务。每天早上推当天的朋友圈，每周一出一份库存周报。设一次，以后天天自己跑。”</a:t>
            </a:r>
          </a:p>
          <a:p/>
          <a:p>
            <a:r>
              <a:t>过渡：</a:t>
            </a:r>
          </a:p>
          <a:p>
            <a:r>
              <a:t>“说到这儿，有人心里已经在嘀咕了：AI 真有这么好用？我用了怎么没感觉？那多半是踩了下面这几个坑。”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八个错误认知 · 上（约 2 分 30 秒）</a:t>
            </a:r>
          </a:p>
          <a:p/>
          <a:p>
            <a:r>
              <a:t>要讲清楚的事：一条一条问学员“这话你说过没有”，让他们自己对号入座。</a:t>
            </a:r>
          </a:p>
          <a:p/>
          <a:p>
            <a:r>
              <a:t>“第一个：‘AI 就是个聊天的。’前面讲过了，3.0 已经能干活，交给你的是做好的文件。”</a:t>
            </a:r>
          </a:p>
          <a:p/>
          <a:p>
            <a:r>
              <a:t>“第二个：‘AI 什么都懂。’它不懂你的店，不懂今天的行情，不懂的时候还会编。价格、行情、规定，一律自己核实。3 月份讲过，别让 AI 给你预测行情。”</a:t>
            </a:r>
          </a:p>
          <a:p/>
          <a:p>
            <a:r>
              <a:t>“第三个：‘一句话就能出好东西。’你给它一句话，它还你一段谁都能发的话。你给它多少，它还你多少。”</a:t>
            </a:r>
          </a:p>
          <a:p/>
          <a:p>
            <a:r>
              <a:t>“第四个：‘AI 写的可以直接发。’客户看得出 AI 味。10/7 讲过，回复像 AI 是会丢单的。AI 出初稿，你过嘴改稿，读出声，改成你自己的话。”</a:t>
            </a:r>
          </a:p>
          <a:p/>
          <a:p>
            <a:r>
              <a:t>互动：“这四条，你中了几条？公屏打数字。”</a:t>
            </a:r>
          </a:p>
          <a:p/>
          <a:p>
            <a:r>
              <a:t>过渡：“还有四条，后面这几条更要命。”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八个错误认知 · 下（约 2 分 30 秒）</a:t>
            </a:r>
          </a:p>
          <a:p/>
          <a:p>
            <a:r>
              <a:t>“第五个：‘工具越多越好，天天追新。’4 月份说过，差生文具多。手机里装十个 AI，哪个都没用熟。一个 Chat、一个 Work，用熟就够了。”</a:t>
            </a:r>
          </a:p>
          <a:p/>
          <a:p>
            <a:r>
              <a:t>“第六个：‘AI 能帮我辨真假、定价格。’它不能拍板。看货、定价、收不收，最后都是你。我们的规矩一直没变：真假的事不交给 AI。拍张图让它判断真假，它也会很自信地给你一个结论，你敢信吗？它能干的，是帮你把报价依据整理好，你拿着去跟客户讲。”</a:t>
            </a:r>
          </a:p>
          <a:p/>
          <a:p>
            <a:r>
              <a:t>“第七个：‘AI 会抢我饭碗’，或者‘我学不会’。它抢的是重复的活，抢不走你看货的眼光、跟客户的关系。至于学不会：会说话就会用 AI。3 月份说过，表达能力是第一生产力。”</a:t>
            </a:r>
          </a:p>
          <a:p/>
          <a:p>
            <a:r>
              <a:t>“第八个：‘资料随便丢给它都没事。’身份证、手机号、银行卡，不进 AI。客户的聊天记录，先删掉名字和电话再给。用 Work 的时候，只给它一个文件夹，别把整台电脑都交给它。6 月份讲过沙箱，8 月份讲过一个项目一个文件夹，都是这个道理。”</a:t>
            </a:r>
          </a:p>
          <a:p/>
          <a:p>
            <a:r>
              <a:t>注意：第六条讲到“拍图辨真假”时，只说“别信、别用”，不要现场演示让 AI 判断真假。</a:t>
            </a:r>
          </a:p>
          <a:p/>
          <a:p>
            <a:r>
              <a:t>过渡：“那到底哪些能放心交给它，哪些必须你自己来？”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放心交给它，必须你拍板（约 2 分钟）</a:t>
            </a:r>
          </a:p>
          <a:p/>
          <a:p>
            <a:r>
              <a:t>要讲清楚的事：能交出去的是活，交不出去的是责任。</a:t>
            </a:r>
          </a:p>
          <a:p/>
          <a:p>
            <a:r>
              <a:t>“左边这些，放心交给它：写初稿、改稿、换说法；整理、汇总、做表格；批量出东西、定时提醒；出框架、出选题、陪你练话术。”</a:t>
            </a:r>
          </a:p>
          <a:p/>
          <a:p>
            <a:r>
              <a:t>“右边这些，必须你拍板：这只包是真是假；最终报价、收不收；跟客户建立信任；发出去的东西合不合规；客户故事真不真。这些出了事，都是你担着，AI 不会替你担。”</a:t>
            </a:r>
          </a:p>
          <a:p/>
          <a:p>
            <a:r>
              <a:t>“一句话：能交出去的是活，交不出去的是责任。”</a:t>
            </a:r>
          </a:p>
          <a:p/>
          <a:p>
            <a:r>
              <a:t>“最后再强调一遍底线：客户姓名、电话、身份证、银行卡，先删掉再给 AI；Work 只给它一个文件夹，不让它删东西。”</a:t>
            </a:r>
          </a:p>
          <a:p/>
          <a:p>
            <a:r>
              <a:t>过渡：“认知讲完了，下面讲怎么做。”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02 怎么做（约 10 秒）</a:t>
            </a:r>
          </a:p>
          <a:p/>
          <a:p>
            <a:r>
              <a:t>“第二部分：先想，再干。”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先想后干五步（约 2 分钟）</a:t>
            </a:r>
          </a:p>
          <a:p/>
          <a:p>
            <a:r>
              <a:t>要讲清楚的事：五步是一个圈，转几圈 AI 就越来越像你。</a:t>
            </a:r>
          </a:p>
          <a:p/>
          <a:p>
            <a:r>
              <a:t>拿朋友圈这件事走一遍：</a:t>
            </a:r>
          </a:p>
          <a:p/>
          <a:p>
            <a:r>
              <a:t>“第一步，在 Chat 里想清楚：我的朋友圈要什么风格，发给谁，哪些话不能说。让它反问你。”</a:t>
            </a:r>
          </a:p>
          <a:p/>
          <a:p>
            <a:r>
              <a:t>“第二步，写成规则。上次我发给大家的那份朋友圈提示词，就是想清楚以后写下来的规则。”</a:t>
            </a:r>
          </a:p>
          <a:p/>
          <a:p>
            <a:r>
              <a:t>“第三步，交给 Work 批量干。每周丢一段录音进去，它出 7 条。”</a:t>
            </a:r>
          </a:p>
          <a:p/>
          <a:p>
            <a:r>
              <a:t>“第四步，你来验收、改稿。”</a:t>
            </a:r>
          </a:p>
          <a:p/>
          <a:p>
            <a:r>
              <a:t>“第五步最容易被忽略：你改了哪里，告诉它，让它写回规则里。7 月份讲过规则固化，就是这一步。”</a:t>
            </a:r>
          </a:p>
          <a:p/>
          <a:p>
            <a:r>
              <a:t>“转几圈以后，你会发现它写的越来越像你，你要改的越来越少。”</a:t>
            </a:r>
          </a:p>
          <a:p/>
          <a:p>
            <a:r>
              <a:t>过渡：“为什么非得这么走，不能跳一步？”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跳过任何一步，都会白干（约 1 分 30 秒）</a:t>
            </a:r>
          </a:p>
          <a:p/>
          <a:p>
            <a:r>
              <a:t>“不想清楚就派活，它干得很快，但干出来的一堆东西你用不上，时间白花了。”</a:t>
            </a:r>
          </a:p>
          <a:p/>
          <a:p>
            <a:r>
              <a:t>“想清楚了还一句一句聊，你自己就成了搬运工，AI 省下的时间又被你复制粘贴吃回去了。”</a:t>
            </a:r>
          </a:p>
          <a:p/>
          <a:p>
            <a:r>
              <a:t>“规则只写一次，以后它每次都按你的标准干。这样的规则攒多了，装进 AI 里，就叫 Skill。Skill 下次可以专门讲一节。”</a:t>
            </a:r>
          </a:p>
          <a:p/>
          <a:p>
            <a:r>
              <a:t>过渡：“第四步验收，具体看什么？”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验收看三样（约 1 分 30 秒）</a:t>
            </a:r>
          </a:p>
          <a:p/>
          <a:p>
            <a:r>
              <a:t>要讲清楚的事：AI 出 80 分，你改到 100 分，发出去的东西你负责。</a:t>
            </a:r>
          </a:p>
          <a:p/>
          <a:p>
            <a:r>
              <a:t>“看第一样：有没有编。货、价格、客户故事，是不是都来自你给它的素材？素材里没有的，它写出来了，就是编的，删掉。”</a:t>
            </a:r>
          </a:p>
          <a:p/>
          <a:p>
            <a:r>
              <a:t>“看第二样：有没有 AI 味。读出声来，像不像你平时说话？‘不得不说’‘在这个时代’‘家人们’这种词，一看就不是你。”</a:t>
            </a:r>
          </a:p>
          <a:p/>
          <a:p>
            <a:r>
              <a:t>“看第三样：有没有违规。文案里出现‘鉴定’两个字，有绝对化用语，或者承诺保值，统统改掉。”</a:t>
            </a:r>
          </a:p>
          <a:p/>
          <a:p>
            <a:r>
              <a:t>“AI 能交给你 80 分的稿子，剩下 20 分你来补。发出去的东西，由你负责。”</a:t>
            </a:r>
          </a:p>
          <a:p/>
          <a:p>
            <a:r>
              <a:t>过渡：“Chat 怎么用才想得清楚？就一个诀窍。”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让 AI 反问你（约 30 秒）</a:t>
            </a:r>
          </a:p>
          <a:p/>
          <a:p>
            <a:r>
              <a:t>“让 AI 反问你。就一句话：‘先别写，一次只问我一个问题。’2 月份讲过这一招。”</a:t>
            </a:r>
          </a:p>
          <a:p/>
          <a:p>
            <a:r>
              <a:t>“很多事你自己也说不清楚，比如你的定位。让它一个一个问，你一个一个答，答着答着就清楚了，它也终于知道你是谁了。下面我现场做一遍。”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 1：让 AI 反问你，写出定位句（约 5 分钟）</a:t>
            </a:r>
          </a:p>
          <a:p/>
          <a:p>
            <a:r>
              <a:t>要讲清楚的事：现场看 Chat 怎么用，把 10/14 的三角图落地。</a:t>
            </a:r>
          </a:p>
          <a:p/>
          <a:p>
            <a:r>
              <a:t>演示步骤：</a:t>
            </a:r>
          </a:p>
          <a:p>
            <a:r>
              <a:t>1. 打开豆包、DeepSeek 或 AI 大脑，哪个都行。共享屏幕前先把字号放大。</a:t>
            </a:r>
          </a:p>
          <a:p>
            <a:r>
              <a:t>2. 粘贴提示词①。</a:t>
            </a:r>
          </a:p>
          <a:p>
            <a:r>
              <a:t>3. 它会一个一个问问题，你用自己的店现场回答。课前先想好怎么答，别现场卡壳。</a:t>
            </a:r>
          </a:p>
          <a:p>
            <a:r>
              <a:t>4. 问完它给出 3 句定位，你逐句点评：哪句最像你，为什么。</a:t>
            </a:r>
          </a:p>
          <a:p/>
          <a:p>
            <a:r>
              <a:t>“大家注意看它问的问题：你专业在哪、你懂客户什么，这是人设；你的客户是谁、急不急、买不买得起，这是人群；客户要什么结果、能不能用数字说清楚，这是需求。10/14 讲的三角图，三个角它全问到了。”</a:t>
            </a:r>
          </a:p>
          <a:p/>
          <a:p>
            <a:r>
              <a:t>注意：</a:t>
            </a:r>
          </a:p>
          <a:p>
            <a:r>
              <a:t>- 它要是一次问一堆问题，就回它一句：“一次只问一个。”</a:t>
            </a:r>
          </a:p>
          <a:p>
            <a:r>
              <a:t>- 模型慢就放录屏。10/7 课上等了两分钟，这次别等。</a:t>
            </a:r>
          </a:p>
          <a:p/>
          <a:p>
            <a:r>
              <a:t>过渡：“定位有了，选题就好办了。”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 1：接着出 30 个选题（约 3 分钟）</a:t>
            </a:r>
          </a:p>
          <a:p/>
          <a:p>
            <a:r>
              <a:t>演示步骤：</a:t>
            </a:r>
          </a:p>
          <a:p>
            <a:r>
              <a:t>1. 在同一个对话里接着发提示词②。</a:t>
            </a:r>
          </a:p>
          <a:p>
            <a:r>
              <a:t>2. 等它出 30 个选题后，挑 3 个念出来，指给学员看规律：痛点没变，换的是品牌或人群。</a:t>
            </a:r>
          </a:p>
          <a:p/>
          <a:p>
            <a:r>
              <a:t>“10/14 那节我说过一句话：干货永远不变，变的只是选题。你看这 30 个，同一个痛点，换成古驰、换成香奈儿，换成上班族、换成宝妈，每一个都是一条新内容。那节课说‘选题往 AI 里一输就出来’，今天就是这么出来的。”</a:t>
            </a:r>
          </a:p>
          <a:p/>
          <a:p>
            <a:r>
              <a:t>“提示词里我特意写了‘不写鉴定类选题’。鉴定类内容容易把人群带偏，3 月份讲过。”</a:t>
            </a:r>
          </a:p>
          <a:p/>
          <a:p>
            <a:r>
              <a:t>互动：“这 30 个里，你觉得哪个最适合你店？打序号。”</a:t>
            </a:r>
          </a:p>
          <a:p/>
          <a:p>
            <a:r>
              <a:t>过渡：“Chat 这边看完了。给 Work 派活，要交代哪几样？”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派活五件套（约 3 分钟）</a:t>
            </a:r>
          </a:p>
          <a:p/>
          <a:p>
            <a:r>
              <a:t>要讲清楚的事：给 Work 派活交代这五样，它才干得像你。拿上次的朋友圈提示词逐项对照。</a:t>
            </a:r>
          </a:p>
          <a:p/>
          <a:p>
            <a:r>
              <a:t>“第一样是背景：我是谁、我的店、我的客户。朋友圈提示词最前面的‘我的档案’就是干这个的。”</a:t>
            </a:r>
          </a:p>
          <a:p/>
          <a:p>
            <a:r>
              <a:t>“第二样是素材：录音、表格、照片。没有素材，它只能编。”</a:t>
            </a:r>
          </a:p>
          <a:p/>
          <a:p>
            <a:r>
              <a:t>“第三样是要求：格式、字数、红线。提示词里的铁律、写作要求就是这个。”</a:t>
            </a:r>
          </a:p>
          <a:p/>
          <a:p>
            <a:r>
              <a:t>“第四样是例子：你写过的好东西。档案里让你贴 3–5 条自己写的朋友圈，就是让它学你的口气。”</a:t>
            </a:r>
          </a:p>
          <a:p/>
          <a:p>
            <a:r>
              <a:t>“第五样是验收标准：什么样算合格。提示词最后那张自查清单就是。”</a:t>
            </a:r>
          </a:p>
          <a:p/>
          <a:p>
            <a:r>
              <a:t>“你看那份提示词很长，拆开就是这五样。写一次，以后每周都能用。2 月份讲过提示词五要素，这是给 Work 派活的版本。”</a:t>
            </a:r>
          </a:p>
          <a:p/>
          <a:p>
            <a:r>
              <a:t>互动：“上次发的朋友圈提示词，有谁已经用过了？扣 1。”</a:t>
            </a:r>
          </a:p>
          <a:p/>
          <a:p>
            <a:r>
              <a:t>过渡：“道理讲完了，现场干一遍。”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03 实操（约 10 秒）</a:t>
            </a:r>
          </a:p>
          <a:p/>
          <a:p>
            <a:r>
              <a:t>“第三部分：一个文件夹，出一周朋友圈。”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 2：先备好一个文件夹（约 1 分钟）</a:t>
            </a:r>
          </a:p>
          <a:p/>
          <a:p>
            <a:r>
              <a:t>演示：打开电脑上的“10-28演示”文件夹，给学员看里面的三个文件。</a:t>
            </a:r>
          </a:p>
          <a:p/>
          <a:p>
            <a:r>
              <a:t>“文件 1 是录音逐字稿，我店里的一段，客户的名字和电话我已经删掉了。文件 2 是上次发的朋友圈提示词。文件 3 是我自己写过的几条朋友圈，让它学我的口气。”</a:t>
            </a:r>
          </a:p>
          <a:p/>
          <a:p>
            <a:r>
              <a:t>“为什么非要单独建一个文件夹？8 月份讲过，一个项目一个文件夹。它只看这个文件夹，别的文件碰不到，也不会被别的项目的资料带偏。”</a:t>
            </a:r>
          </a:p>
          <a:p/>
          <a:p>
            <a:r>
              <a:t>过渡：“东西备齐了，开始派活。”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 2：在 WorkBuddy 里派活（约 3 分钟）</a:t>
            </a:r>
          </a:p>
          <a:p/>
          <a:p>
            <a:r>
              <a:t>演示步骤：</a:t>
            </a:r>
          </a:p>
          <a:p>
            <a:r>
              <a:t>1. 打开 WorkBuddy，选中“10-28演示”这个文件夹。</a:t>
            </a:r>
          </a:p>
          <a:p>
            <a:r>
              <a:t>2. 粘贴派活的话，发出去。</a:t>
            </a:r>
          </a:p>
          <a:p>
            <a:r>
              <a:t>3. 等它干活的时候，逐句讲这段派活的话。</a:t>
            </a:r>
          </a:p>
          <a:p/>
          <a:p>
            <a:r>
              <a:t>“第一句告诉它读什么、按什么规则写。第二句告诉它交付物长什么样：一张表格，有哪几列。第三句是安全：原来的文件不许改、不许删。”</a:t>
            </a:r>
          </a:p>
          <a:p/>
          <a:p>
            <a:r>
              <a:t>“它现在在一步步自己干。真实情况下这几分钟你可以去接待客户，回来再验收。”</a:t>
            </a:r>
          </a:p>
          <a:p/>
          <a:p>
            <a:r>
              <a:t>注意：</a:t>
            </a:r>
          </a:p>
          <a:p>
            <a:r>
              <a:t>- 卡住超过一分钟就切到录屏，别干等。</a:t>
            </a:r>
          </a:p>
          <a:p>
            <a:r>
              <a:t>- 共享屏幕前先放大字号，10/7 有学员说看不清。</a:t>
            </a:r>
          </a:p>
          <a:p/>
          <a:p>
            <a:r>
              <a:t>过渡：“好，它交活了，我们来验收。”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 2：验收，再改一条（约 3 分钟）</a:t>
            </a:r>
          </a:p>
          <a:p/>
          <a:p>
            <a:r>
              <a:t>演示步骤：</a:t>
            </a:r>
          </a:p>
          <a:p>
            <a:r>
              <a:t>1. 打开它生成的表格，先按三样快速过一遍：有没有编、有没有 AI 味、有没有违规。</a:t>
            </a:r>
          </a:p>
          <a:p>
            <a:r>
              <a:t>2. 挑一条，最好是周四的老板日记或周一的上新，现场过嘴改稿：</a:t>
            </a:r>
          </a:p>
          <a:p>
            <a:r>
              <a:t>   - 把“不得不说”“在这个时代”这类 AI 腔删掉</a:t>
            </a:r>
          </a:p>
          <a:p>
            <a:r>
              <a:t>   - 长句拆成短句</a:t>
            </a:r>
          </a:p>
          <a:p>
            <a:r>
              <a:t>   - 换成你平时说话的口气</a:t>
            </a:r>
          </a:p>
          <a:p>
            <a:r>
              <a:t>3. 改完回到 WorkBuddy，告诉它：“以后别用‘不得不说’，句子再短一点。”</a:t>
            </a:r>
          </a:p>
          <a:p/>
          <a:p>
            <a:r>
              <a:t>“这就是先想后干的第 5 步：改的地方写回规则。下周它就不会再犯同样的错。10/7 讲过回复像 AI 会丢单，AI 味就是这么一点点改掉的。”</a:t>
            </a:r>
          </a:p>
          <a:p/>
          <a:p>
            <a:r>
              <a:t>过渡：“时间够的话，再看一个跟钱有关的。”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 3：一张库存表，找出压款的货（选做，约 3 分钟）</a:t>
            </a:r>
          </a:p>
          <a:p/>
          <a:p>
            <a:r>
              <a:t>要讲清楚的事：Work 不只能写文案，表格和钱的事也能干。</a:t>
            </a:r>
          </a:p>
          <a:p/>
          <a:p>
            <a:r>
              <a:t>演示步骤：</a:t>
            </a:r>
          </a:p>
          <a:p>
            <a:r>
              <a:t>1. 用示例库存表，或者脱敏后的真实库存表。</a:t>
            </a:r>
          </a:p>
          <a:p>
            <a:r>
              <a:t>2. 发派活的话，等它出一张新表。</a:t>
            </a:r>
          </a:p>
          <a:p>
            <a:r>
              <a:t>3. 挑一两只货，讲它给的处理建议。</a:t>
            </a:r>
          </a:p>
          <a:p/>
          <a:p>
            <a:r>
              <a:t>“7 月份讲周转纪律：超过 30 天的货要有处理方案。以前你得自己一行行算，现在它几分钟就给你排好了，压钱最多的排在最前面。但它给的降价、换渠道这些建议只是参考，最后怎么处理你来定。”</a:t>
            </a:r>
          </a:p>
          <a:p/>
          <a:p>
            <a:r>
              <a:t>注意：时间不够就跳过，说一句“这个大家回去可以自己试，派活的话我发群里”。</a:t>
            </a:r>
          </a:p>
          <a:p/>
          <a:p>
            <a:r>
              <a:t>过渡：“好，留作业。”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作业（约 2 分钟）</a:t>
            </a:r>
          </a:p>
          <a:p/>
          <a:p>
            <a:r>
              <a:t>“作业分三档，按你店的情况选。”</a:t>
            </a:r>
          </a:p>
          <a:p/>
          <a:p>
            <a:r>
              <a:t>“起步店：用提示词①，让 AI 反问你，写出你的定位句，发到群里，我来帮你改。”</a:t>
            </a:r>
          </a:p>
          <a:p/>
          <a:p>
            <a:r>
              <a:t>“成熟店：用 Work 把一段录音做成下周 7 条朋友圈的表格，自己改好其中 3 条，截图发群里。”</a:t>
            </a:r>
          </a:p>
          <a:p/>
          <a:p>
            <a:r>
              <a:t>“所有人：写下你店里最重复的 3 件活，下次我们挑一件做成 Skill。”</a:t>
            </a:r>
          </a:p>
          <a:p/>
          <a:p>
            <a:r>
              <a:t>“提示词①②，还有两段派活的话，课后我都发到群里，直接复制就能用。”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下节课预告（约 1 分钟）</a:t>
            </a:r>
          </a:p>
          <a:p/>
          <a:p>
            <a:r>
              <a:t>“下节课两个方向，大家投票。1 是 Skill 专场，把今天写的规则装进 AI，变成一直能用的技能。2 是双 11 和年前冲刺：双 11 还有两周，离过年三个月，把节点内容排好。公屏打 1 或 2。”</a:t>
            </a:r>
          </a:p>
          <a:p/>
          <a:p>
            <a:r>
              <a:t>注意：票数接近的话，你直接定。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最后一句（约 30 秒）</a:t>
            </a:r>
          </a:p>
          <a:p/>
          <a:p>
            <a:r>
              <a:t>“最后回到开头那句话：Chat 用来想，Work 用来干。你只做两件事，给素材，做判断。今天回去就挑一件事试一试，有问题群里找我，我们下周见。”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AF9F5"/>
            </a:gs>
            <a:gs pos="100000">
              <a:srgbClr val="F3ECD6"/>
            </a:gs>
          </a:gsLst>
          <a:lin scaled="0" ang="2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1014984"/>
            <a:ext cx="2254910" cy="292608"/>
          </a:xfrm>
          <a:prstGeom prst="roundRect">
            <a:avLst>
              <a:gd name="adj" fmla="val 9800"/>
            </a:avLst>
          </a:prstGeom>
          <a:solidFill>
            <a:srgbClr val="C039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040511"/>
            <a:ext cx="2254910" cy="292608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一周一课 · 2026.10.28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417320"/>
            <a:ext cx="8778240" cy="16459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610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5759" b="1" i="0" spc="115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Chat 用来想</a:t>
            </a:r>
          </a:p>
          <a:p>
            <a:pPr algn="l">
              <a:lnSpc>
                <a:spcPts val="610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5759" b="1" i="0" spc="115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Work 用来干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3154680"/>
            <a:ext cx="8229600" cy="4572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3078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80" b="0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AI 3.0：二奢老板怎么让 AI 干活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3931920"/>
            <a:ext cx="8229600" cy="3657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0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—— 破认知、怎么做、现场演示 ｜ 闫亚老师 主讲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6656" y="521207"/>
            <a:ext cx="7315200" cy="3657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1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先摸个底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841248"/>
            <a:ext cx="7982712" cy="612802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410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479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你现在用 AI 最多干什么？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773936"/>
            <a:ext cx="1824228" cy="1572768"/>
          </a:xfrm>
          <a:prstGeom prst="roundRect">
            <a:avLst>
              <a:gd name="adj" fmla="val 3000"/>
            </a:avLst>
          </a:prstGeom>
          <a:solidFill>
            <a:srgbClr val="F3F0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773936"/>
            <a:ext cx="1824228" cy="457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938528"/>
            <a:ext cx="914400" cy="64008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4463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719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615184"/>
            <a:ext cx="1549907" cy="32004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问问题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944368"/>
            <a:ext cx="1549907" cy="32004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0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搜个东西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47188" y="1773936"/>
            <a:ext cx="1824228" cy="1572768"/>
          </a:xfrm>
          <a:prstGeom prst="roundRect">
            <a:avLst>
              <a:gd name="adj" fmla="val 3000"/>
            </a:avLst>
          </a:prstGeom>
          <a:solidFill>
            <a:srgbClr val="F3F0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647188" y="1773936"/>
            <a:ext cx="1824228" cy="457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11780" y="1938528"/>
            <a:ext cx="914400" cy="64008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4463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719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11780" y="2615184"/>
            <a:ext cx="1549907" cy="32004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写文案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11780" y="2944368"/>
            <a:ext cx="1549907" cy="32004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0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朋友圈、脚本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08576" y="1773936"/>
            <a:ext cx="1824228" cy="1572768"/>
          </a:xfrm>
          <a:prstGeom prst="roundRect">
            <a:avLst>
              <a:gd name="adj" fmla="val 3000"/>
            </a:avLst>
          </a:prstGeom>
          <a:solidFill>
            <a:srgbClr val="F3F0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608576" y="1773936"/>
            <a:ext cx="1824228" cy="457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73168" y="1938528"/>
            <a:ext cx="914400" cy="64008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4463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719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73168" y="2615184"/>
            <a:ext cx="1549907" cy="32004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做图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73168" y="2944368"/>
            <a:ext cx="1549907" cy="32004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0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海报、封面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69964" y="1773936"/>
            <a:ext cx="1824228" cy="1572768"/>
          </a:xfrm>
          <a:prstGeom prst="roundRect">
            <a:avLst>
              <a:gd name="adj" fmla="val 3000"/>
            </a:avLst>
          </a:prstGeom>
          <a:solidFill>
            <a:srgbClr val="F3F0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69964" y="1773936"/>
            <a:ext cx="1824228" cy="4572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34556" y="1938528"/>
            <a:ext cx="914400" cy="64008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4463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719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34556" y="2615184"/>
            <a:ext cx="1549907" cy="32004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基本没用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34556" y="2944368"/>
            <a:ext cx="1549907" cy="32004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0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说实话就行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" y="3611880"/>
            <a:ext cx="7708392" cy="36461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511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20" b="0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公屏打数字。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6656" y="521207"/>
            <a:ext cx="7315200" cy="3657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1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同一个任务，两种结果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841248"/>
            <a:ext cx="7982712" cy="612802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410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479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根据录音，写下周 7 条朋友圈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91640"/>
            <a:ext cx="3776472" cy="1677924"/>
          </a:xfrm>
          <a:prstGeom prst="roundRect">
            <a:avLst>
              <a:gd name="adj" fmla="val 4000"/>
            </a:avLst>
          </a:prstGeom>
          <a:solidFill>
            <a:srgbClr val="F3F0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691640"/>
            <a:ext cx="64008" cy="1677924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23544" y="1856232"/>
            <a:ext cx="3410712" cy="2743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1" i="0">
                <a:solidFill>
                  <a:srgbClr val="1F618D"/>
                </a:solidFill>
                <a:latin typeface="PingFang SC"/>
                <a:ea typeface="PingFang SC"/>
                <a:cs typeface="PingFang SC"/>
              </a:rPr>
              <a:t>Chat 给你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544" y="2167128"/>
            <a:ext cx="3319272" cy="70713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一大段文字。</a:t>
            </a:r>
          </a:p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你自己复制、整理、存。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17720" y="1691640"/>
            <a:ext cx="3776472" cy="1677924"/>
          </a:xfrm>
          <a:prstGeom prst="roundRect">
            <a:avLst>
              <a:gd name="adj" fmla="val 4000"/>
            </a:avLst>
          </a:prstGeom>
          <a:solidFill>
            <a:srgbClr val="EBF4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17720" y="1691640"/>
            <a:ext cx="64008" cy="1677924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55464" y="1856232"/>
            <a:ext cx="3410712" cy="2743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1" i="0">
                <a:solidFill>
                  <a:srgbClr val="1E8449"/>
                </a:solidFill>
                <a:latin typeface="PingFang SC"/>
                <a:ea typeface="PingFang SC"/>
                <a:cs typeface="PingFang SC"/>
              </a:rPr>
              <a:t>Work 交给你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55464" y="2167128"/>
            <a:ext cx="3319272" cy="10378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文件夹里多了一张表格：</a:t>
            </a:r>
          </a:p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周一到周日、正文、配图建议，</a:t>
            </a:r>
          </a:p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都排好了。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552444"/>
            <a:ext cx="7708392" cy="734567"/>
          </a:xfrm>
          <a:prstGeom prst="rect">
            <a:avLst/>
          </a:prstGeom>
          <a:solidFill>
            <a:srgbClr val="FFF8D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3552444"/>
            <a:ext cx="64008" cy="734567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717036"/>
            <a:ext cx="7251192" cy="45110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3192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80" b="1" i="0">
                <a:solidFill>
                  <a:srgbClr val="3A2D00"/>
                </a:solidFill>
                <a:latin typeface="PingFang SC"/>
                <a:ea typeface="PingFang SC"/>
                <a:cs typeface="PingFang SC"/>
              </a:rPr>
              <a:t>同样是 AI，一个陪你聊，一个替你干。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6656" y="521207"/>
            <a:ext cx="7315200" cy="3657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1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这句话今天会回扣两次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841248"/>
            <a:ext cx="7982712" cy="612802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410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479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今天只讲一件事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91640"/>
            <a:ext cx="7708392" cy="1746504"/>
          </a:xfrm>
          <a:prstGeom prst="roundRect">
            <a:avLst>
              <a:gd name="adj" fmla="val 5000"/>
            </a:avLst>
          </a:prstGeom>
          <a:solidFill>
            <a:srgbClr val="ECE7D8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8408" y="1901952"/>
            <a:ext cx="3657600" cy="2743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1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本 课 一 句 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8408" y="2240280"/>
            <a:ext cx="7132320" cy="109728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405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12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Chat 用来想，</a:t>
            </a:r>
          </a:p>
          <a:p>
            <a:pPr algn="l">
              <a:lnSpc>
                <a:spcPts val="405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12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Work 用来干。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3611880"/>
            <a:ext cx="7708392" cy="36461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511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20" b="0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先在 Chat 里把事想清楚，再把活派给 Work。你只做两件事：给素材，做判断。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6656" y="521207"/>
            <a:ext cx="7315200" cy="3657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1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60 分钟，三段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841248"/>
            <a:ext cx="7982712" cy="612802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410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479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今天的路线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682495"/>
            <a:ext cx="850392" cy="41148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808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6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2728" y="1737360"/>
            <a:ext cx="7141464" cy="4000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79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破认知：AI 是什么、Chat 和 Work 的区别、八个误区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176272"/>
            <a:ext cx="7708392" cy="9144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2203703"/>
            <a:ext cx="850392" cy="41148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808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6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52728" y="2258568"/>
            <a:ext cx="7141464" cy="4000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79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怎么做：先想后干五步、派活五件套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697480"/>
            <a:ext cx="7708392" cy="9144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" y="2724912"/>
            <a:ext cx="850392" cy="41148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808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6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2728" y="2779776"/>
            <a:ext cx="7141464" cy="4000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79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现场演示：写定位句、出一周朋友圈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438144"/>
            <a:ext cx="7708392" cy="734567"/>
          </a:xfrm>
          <a:prstGeom prst="rect">
            <a:avLst/>
          </a:prstGeom>
          <a:solidFill>
            <a:srgbClr val="FFF8D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3438144"/>
            <a:ext cx="64008" cy="734567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02736"/>
            <a:ext cx="7251192" cy="45110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3192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80" b="1" i="0">
                <a:solidFill>
                  <a:srgbClr val="3A2D00"/>
                </a:solidFill>
                <a:latin typeface="PingFang SC"/>
                <a:ea typeface="PingFang SC"/>
                <a:cs typeface="PingFang SC"/>
              </a:rPr>
              <a:t>边讲边演示，下课带走两个能直接复制的提示词。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1481328"/>
            <a:ext cx="1498701" cy="310896"/>
          </a:xfrm>
          <a:prstGeom prst="roundRect">
            <a:avLst>
              <a:gd name="adj" fmla="val 9800"/>
            </a:avLst>
          </a:prstGeom>
          <a:solidFill>
            <a:srgbClr val="C039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504286"/>
            <a:ext cx="1498701" cy="310896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PART 01 /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94229" y="1508760"/>
            <a:ext cx="3657600" cy="3657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1" i="0">
                <a:solidFill>
                  <a:srgbClr val="9A9088"/>
                </a:solidFill>
                <a:latin typeface="PingFang SC"/>
                <a:ea typeface="PingFang SC"/>
                <a:cs typeface="PingFang SC"/>
              </a:rPr>
              <a:t>05–30 分钟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11095"/>
            <a:ext cx="819912" cy="329184"/>
          </a:xfrm>
          <a:prstGeom prst="roundRect">
            <a:avLst>
              <a:gd name="adj" fmla="val 9800"/>
            </a:avLst>
          </a:prstGeom>
          <a:solidFill>
            <a:srgbClr val="FFD16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54910"/>
            <a:ext cx="819912" cy="329184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破 认 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2377440"/>
            <a:ext cx="8686800" cy="1771497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6614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624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AI 走到</a:t>
            </a:r>
          </a:p>
          <a:p>
            <a:pPr algn="l">
              <a:lnSpc>
                <a:spcPts val="6614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624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哪一步了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4240377"/>
            <a:ext cx="8686800" cy="54864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3312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760" b="1" i="0">
                <a:solidFill>
                  <a:srgbClr val="FFD166"/>
                </a:solidFill>
                <a:latin typeface="PingFang SC"/>
                <a:ea typeface="PingFang SC"/>
                <a:cs typeface="PingFang SC"/>
              </a:rPr>
              <a:t>AI 是什么 ｜ 三个阶段 ｜ Chat 和 Work ｜ 八个误区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6656" y="521207"/>
            <a:ext cx="7315200" cy="3657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1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先说 AI 是什么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841248"/>
            <a:ext cx="7982712" cy="612802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410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479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一个读过海量资料的实习生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91640"/>
            <a:ext cx="7708392" cy="2029967"/>
          </a:xfrm>
          <a:prstGeom prst="rect">
            <a:avLst/>
          </a:prstGeom>
          <a:solidFill>
            <a:srgbClr val="F3F0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691640"/>
            <a:ext cx="45720" cy="2029967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0976" y="1856232"/>
            <a:ext cx="2743200" cy="2743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1" i="0" spc="200">
                <a:solidFill>
                  <a:srgbClr val="1F618D"/>
                </a:solidFill>
                <a:latin typeface="PingFang SC"/>
                <a:ea typeface="PingFang SC"/>
                <a:cs typeface="PingFang SC"/>
              </a:rPr>
              <a:t>大 白 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" y="2130552"/>
            <a:ext cx="7159752" cy="1508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2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聪明、勤快、不睡觉</a:t>
            </a:r>
          </a:p>
          <a:p>
            <a:pPr algn="l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2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但不认识你的店，也不认识你的客户</a:t>
            </a:r>
          </a:p>
          <a:p>
            <a:pPr algn="l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2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不知道今天的行情</a:t>
            </a:r>
          </a:p>
          <a:p>
            <a:pPr algn="l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2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不懂的时候，会一本正经地编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3904488"/>
            <a:ext cx="7708392" cy="734567"/>
          </a:xfrm>
          <a:prstGeom prst="rect">
            <a:avLst/>
          </a:prstGeom>
          <a:solidFill>
            <a:srgbClr val="FFF8D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3904488"/>
            <a:ext cx="64008" cy="734567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069080"/>
            <a:ext cx="7251192" cy="45110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3192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80" b="1" i="0">
                <a:solidFill>
                  <a:srgbClr val="3A2D00"/>
                </a:solidFill>
                <a:latin typeface="PingFang SC"/>
                <a:ea typeface="PingFang SC"/>
                <a:cs typeface="PingFang SC"/>
              </a:rPr>
              <a:t>它能干多好，取决于你给它多少。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6656" y="521207"/>
            <a:ext cx="7315200" cy="3657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1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分清两个词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841248"/>
            <a:ext cx="7982712" cy="612802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410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479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模型是大脑，工具是工位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91640"/>
            <a:ext cx="3776472" cy="1677924"/>
          </a:xfrm>
          <a:prstGeom prst="roundRect">
            <a:avLst>
              <a:gd name="adj" fmla="val 4000"/>
            </a:avLst>
          </a:prstGeom>
          <a:solidFill>
            <a:srgbClr val="F3F0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691640"/>
            <a:ext cx="64008" cy="1677924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23544" y="1856232"/>
            <a:ext cx="3410712" cy="2743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1" i="0">
                <a:solidFill>
                  <a:srgbClr val="1F618D"/>
                </a:solidFill>
                <a:latin typeface="PingFang SC"/>
                <a:ea typeface="PingFang SC"/>
                <a:cs typeface="PingFang SC"/>
              </a:rPr>
              <a:t>模型 = 大脑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544" y="2167128"/>
            <a:ext cx="3319272" cy="70713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DeepSeek、豆包、Kimi、智谱</a:t>
            </a:r>
          </a:p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决定它聪不聪明。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17720" y="1691640"/>
            <a:ext cx="3776472" cy="1677924"/>
          </a:xfrm>
          <a:prstGeom prst="roundRect">
            <a:avLst>
              <a:gd name="adj" fmla="val 4000"/>
            </a:avLst>
          </a:prstGeom>
          <a:solidFill>
            <a:srgbClr val="F3F0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17720" y="1691640"/>
            <a:ext cx="64008" cy="1677924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55464" y="1856232"/>
            <a:ext cx="3410712" cy="2743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1" i="0">
                <a:solidFill>
                  <a:srgbClr val="B8860B"/>
                </a:solidFill>
                <a:latin typeface="PingFang SC"/>
                <a:ea typeface="PingFang SC"/>
                <a:cs typeface="PingFang SC"/>
              </a:rPr>
              <a:t>工具 = 工位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55464" y="2167128"/>
            <a:ext cx="3319272" cy="10378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豆包 App、AI 大脑、</a:t>
            </a:r>
          </a:p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WorkBuddy</a:t>
            </a:r>
          </a:p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决定它能干什么活。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552444"/>
            <a:ext cx="7708392" cy="1021080"/>
          </a:xfrm>
          <a:prstGeom prst="rect">
            <a:avLst/>
          </a:prstGeom>
          <a:solidFill>
            <a:srgbClr val="FFF8D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3552444"/>
            <a:ext cx="64008" cy="102108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717036"/>
            <a:ext cx="7251192" cy="40843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85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40" b="1" i="0">
                <a:solidFill>
                  <a:srgbClr val="3A2D00"/>
                </a:solidFill>
                <a:latin typeface="PingFang SC"/>
                <a:ea typeface="PingFang SC"/>
                <a:cs typeface="PingFang SC"/>
              </a:rPr>
              <a:t>同一个大脑，坐在不同的工位上，能干的活不一样。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116324"/>
            <a:ext cx="7251192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0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积分、Token 就是成本：用多少，花多少（02-11、04-08）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6656" y="521207"/>
            <a:ext cx="7315200" cy="3657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1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这是我自己的分法，年份是大概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841248"/>
            <a:ext cx="7982712" cy="612802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410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479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AI 的三个阶段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91640"/>
            <a:ext cx="2478023" cy="2148840"/>
          </a:xfrm>
          <a:prstGeom prst="roundRect">
            <a:avLst>
              <a:gd name="adj" fmla="val 3000"/>
            </a:avLst>
          </a:prstGeom>
          <a:solidFill>
            <a:srgbClr val="F3F0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691640"/>
            <a:ext cx="2478023" cy="4572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874520"/>
            <a:ext cx="2203703" cy="2743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0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2023 年前后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148840"/>
            <a:ext cx="1371600" cy="64008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4463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719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1.0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788920"/>
            <a:ext cx="2203703" cy="3657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652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40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会聊天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3172968"/>
            <a:ext cx="2203703" cy="2743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0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问一句答一句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3429000"/>
            <a:ext cx="2203703" cy="2743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你把它当搜索框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00983" y="1691640"/>
            <a:ext cx="2478023" cy="2148840"/>
          </a:xfrm>
          <a:prstGeom prst="roundRect">
            <a:avLst>
              <a:gd name="adj" fmla="val 3000"/>
            </a:avLst>
          </a:prstGeom>
          <a:solidFill>
            <a:srgbClr val="F3F0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00983" y="1691640"/>
            <a:ext cx="2478023" cy="4572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65575" y="1874520"/>
            <a:ext cx="2203703" cy="2743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0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2025 年前后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65575" y="2148840"/>
            <a:ext cx="1371600" cy="64008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4463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719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2.0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65575" y="2788920"/>
            <a:ext cx="2203703" cy="3657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652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40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会思考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65575" y="3172968"/>
            <a:ext cx="2203703" cy="2743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0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深度思考、联网查资料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65575" y="3429000"/>
            <a:ext cx="2203703" cy="2743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你把它当参谋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16167" y="1691640"/>
            <a:ext cx="2478023" cy="2148840"/>
          </a:xfrm>
          <a:prstGeom prst="roundRect">
            <a:avLst>
              <a:gd name="adj" fmla="val 3000"/>
            </a:avLst>
          </a:prstGeom>
          <a:solidFill>
            <a:srgbClr val="F3F0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16167" y="1691640"/>
            <a:ext cx="2478023" cy="457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80759" y="1874520"/>
            <a:ext cx="2203703" cy="2743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0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现在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59" y="2148840"/>
            <a:ext cx="1371600" cy="64008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4463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719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3.0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0759" y="2788920"/>
            <a:ext cx="2203703" cy="3657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652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40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会干活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59" y="3172968"/>
            <a:ext cx="2203703" cy="2743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0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读文件、改表格、批量做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80759" y="3429000"/>
            <a:ext cx="2203703" cy="2743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你把它当员工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4023360"/>
            <a:ext cx="7708392" cy="734567"/>
          </a:xfrm>
          <a:prstGeom prst="rect">
            <a:avLst/>
          </a:prstGeom>
          <a:solidFill>
            <a:srgbClr val="FFF8D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" y="4023360"/>
            <a:ext cx="64008" cy="734567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4187952"/>
            <a:ext cx="7251192" cy="45110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3192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80" b="1" i="0">
                <a:solidFill>
                  <a:srgbClr val="3A2D00"/>
                </a:solidFill>
                <a:latin typeface="PingFang SC"/>
                <a:ea typeface="PingFang SC"/>
                <a:cs typeface="PingFang SC"/>
              </a:rPr>
              <a:t>大部分人还停在 1.0。今天要升两级。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6656" y="521207"/>
            <a:ext cx="7315200" cy="3657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1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3.0 到底能干到哪一步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841248"/>
            <a:ext cx="7982712" cy="612802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410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479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它在你的电脑上干活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91640"/>
            <a:ext cx="7708392" cy="914400"/>
          </a:xfrm>
          <a:prstGeom prst="roundRect">
            <a:avLst>
              <a:gd name="adj" fmla="val 6000"/>
            </a:avLst>
          </a:prstGeom>
          <a:solidFill>
            <a:srgbClr val="F3F0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691640"/>
            <a:ext cx="64008" cy="914400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23544" y="1920240"/>
            <a:ext cx="1362456" cy="4480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23544" y="2331720"/>
            <a:ext cx="1362456" cy="27432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017585"/>
            <a:ext cx="1362456" cy="3657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139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80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读你的文件夹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2017585"/>
            <a:ext cx="274320" cy="3657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139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80" b="1" i="0">
                <a:solidFill>
                  <a:srgbClr val="922B21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15184" y="1920240"/>
            <a:ext cx="836676" cy="4480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15184" y="2331720"/>
            <a:ext cx="836676" cy="27432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70632" y="2017585"/>
            <a:ext cx="836676" cy="3657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139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80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改表格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43300" y="2017585"/>
            <a:ext cx="274320" cy="3657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139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80" b="1" i="0">
                <a:solidFill>
                  <a:srgbClr val="922B21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81044" y="1920240"/>
            <a:ext cx="836676" cy="4480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781044" y="2331720"/>
            <a:ext cx="836676" cy="27432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36491" y="2017585"/>
            <a:ext cx="836676" cy="3657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139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80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批量写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59" y="2017585"/>
            <a:ext cx="274320" cy="3657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139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80" b="1" i="0">
                <a:solidFill>
                  <a:srgbClr val="922B21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46904" y="1920240"/>
            <a:ext cx="1011936" cy="4480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946904" y="2331720"/>
            <a:ext cx="1011936" cy="27432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02352" y="2017585"/>
            <a:ext cx="1011936" cy="3657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139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80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存成文件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50280" y="2017585"/>
            <a:ext cx="274320" cy="3657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139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80" b="1" i="0">
                <a:solidFill>
                  <a:srgbClr val="922B21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88024" y="1920240"/>
            <a:ext cx="1362456" cy="4480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88024" y="2331720"/>
            <a:ext cx="1362456" cy="27432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3472" y="2017585"/>
            <a:ext cx="1362456" cy="3657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139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80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定时推到微信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2834640"/>
            <a:ext cx="7708392" cy="734567"/>
          </a:xfrm>
          <a:prstGeom prst="rect">
            <a:avLst/>
          </a:prstGeom>
          <a:solidFill>
            <a:srgbClr val="FFF8D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" y="2834640"/>
            <a:ext cx="64008" cy="734567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2999232"/>
            <a:ext cx="7251192" cy="45110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3192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80" b="1" i="0">
                <a:solidFill>
                  <a:srgbClr val="3A2D00"/>
                </a:solidFill>
                <a:latin typeface="PingFang SC"/>
                <a:ea typeface="PingFang SC"/>
                <a:cs typeface="PingFang SC"/>
              </a:rPr>
              <a:t>交给你的不是一段话，是做好的东西。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" y="3706368"/>
            <a:ext cx="7708392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40" b="0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以前讲过：03-19 包工头 · 06-10 WorkBuddy · 08-12 文件夹即智能体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6656" y="521207"/>
            <a:ext cx="7315200" cy="3657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1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逐行对照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841248"/>
            <a:ext cx="7982712" cy="612802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410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479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Chat 和 Work 的区别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73352"/>
            <a:ext cx="1408176" cy="457200"/>
          </a:xfrm>
          <a:prstGeom prst="rect">
            <a:avLst/>
          </a:prstGeom>
          <a:solidFill>
            <a:srgbClr val="F3F0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2112264"/>
            <a:ext cx="1408176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1773936"/>
            <a:ext cx="1161288" cy="2743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/>
            </a:r>
          </a:p>
        </p:txBody>
      </p:sp>
      <p:sp>
        <p:nvSpPr>
          <p:cNvPr id="7" name="Rectangle 6"/>
          <p:cNvSpPr/>
          <p:nvPr/>
        </p:nvSpPr>
        <p:spPr>
          <a:xfrm>
            <a:off x="2103120" y="1673352"/>
            <a:ext cx="3008376" cy="457200"/>
          </a:xfrm>
          <a:prstGeom prst="rect">
            <a:avLst/>
          </a:prstGeom>
          <a:solidFill>
            <a:srgbClr val="F3F0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03120" y="2112264"/>
            <a:ext cx="3008376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31136" y="1773936"/>
            <a:ext cx="2761487" cy="2743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Chat 模式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0" y="1673352"/>
            <a:ext cx="3264408" cy="457200"/>
          </a:xfrm>
          <a:prstGeom prst="rect">
            <a:avLst/>
          </a:prstGeom>
          <a:solidFill>
            <a:srgbClr val="F3F0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120640" y="2112264"/>
            <a:ext cx="3264408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48655" y="1773936"/>
            <a:ext cx="3017520" cy="2743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Work 模式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" y="2194560"/>
            <a:ext cx="1161288" cy="3314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像谁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31136" y="2194560"/>
            <a:ext cx="2761487" cy="3314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参谋：陪你想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48655" y="2194560"/>
            <a:ext cx="3017520" cy="3314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包工头：替你干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2535174"/>
            <a:ext cx="1408176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103120" y="2535174"/>
            <a:ext cx="3008376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20640" y="2535174"/>
            <a:ext cx="3264408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" y="2608326"/>
            <a:ext cx="1161288" cy="3314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你给它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31136" y="2608326"/>
            <a:ext cx="2761487" cy="3314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一个问题、一段想法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48655" y="2608326"/>
            <a:ext cx="3017520" cy="3314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一个文件夹 + 一件交代清楚的活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2948940"/>
            <a:ext cx="1408176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103120" y="2948940"/>
            <a:ext cx="3008376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20640" y="2948940"/>
            <a:ext cx="3264408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3816" y="3022092"/>
            <a:ext cx="1161288" cy="3314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它交给你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31136" y="3022092"/>
            <a:ext cx="2761487" cy="3314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一段回答、一个思路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48655" y="3022092"/>
            <a:ext cx="3017520" cy="3314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做好的文件：表格、文案合集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" y="3362706"/>
            <a:ext cx="1408176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103120" y="3362706"/>
            <a:ext cx="3008376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120640" y="3362706"/>
            <a:ext cx="3264408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3816" y="3435858"/>
            <a:ext cx="1161288" cy="3314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怎么用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31136" y="3435858"/>
            <a:ext cx="2761487" cy="3314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来回追问，让它反问你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48655" y="3435858"/>
            <a:ext cx="3017520" cy="3314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先讲清标准，最后验收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" y="3776472"/>
            <a:ext cx="1408176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103120" y="3776472"/>
            <a:ext cx="3008376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120640" y="3776472"/>
            <a:ext cx="3264408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3816" y="3849624"/>
            <a:ext cx="1161288" cy="3314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适合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31136" y="3849624"/>
            <a:ext cx="2761487" cy="3314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还没想清楚的事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48655" y="3849624"/>
            <a:ext cx="3017520" cy="3314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想清楚的、重复的、量大的事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5800" y="4190238"/>
            <a:ext cx="1408176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103120" y="4190238"/>
            <a:ext cx="3008376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120640" y="4190238"/>
            <a:ext cx="3264408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3816" y="4263390"/>
            <a:ext cx="1161288" cy="3314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常用工具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31136" y="4263390"/>
            <a:ext cx="2761487" cy="3314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豆包、DeepSeek、AI 大脑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48655" y="4263390"/>
            <a:ext cx="3017520" cy="3314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WorkBuddy 这类桌面智能体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85800" y="4604004"/>
            <a:ext cx="1408176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103120" y="4604004"/>
            <a:ext cx="3008376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120640" y="4604004"/>
            <a:ext cx="3264408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13816" y="4677156"/>
            <a:ext cx="1161288" cy="3314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最大风险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231136" y="4677156"/>
            <a:ext cx="2761487" cy="3314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一本正经地编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248655" y="4677156"/>
            <a:ext cx="3017520" cy="3314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动错文件、交出隐私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85800" y="5017770"/>
            <a:ext cx="1408176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2103120" y="5017770"/>
            <a:ext cx="3008376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120640" y="5017770"/>
            <a:ext cx="3264408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6656" y="521207"/>
            <a:ext cx="7315200" cy="3657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1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一句话记住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841248"/>
            <a:ext cx="7982712" cy="612802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410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479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Chat 是参谋，Work 是包工头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91640"/>
            <a:ext cx="3776472" cy="1890522"/>
          </a:xfrm>
          <a:prstGeom prst="roundRect">
            <a:avLst>
              <a:gd name="adj" fmla="val 4000"/>
            </a:avLst>
          </a:prstGeom>
          <a:solidFill>
            <a:srgbClr val="F3F0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691640"/>
            <a:ext cx="64008" cy="1890522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23544" y="1856232"/>
            <a:ext cx="3410712" cy="2743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1" i="0">
                <a:solidFill>
                  <a:srgbClr val="1F618D"/>
                </a:solidFill>
                <a:latin typeface="PingFang SC"/>
                <a:ea typeface="PingFang SC"/>
                <a:cs typeface="PingFang SC"/>
              </a:rPr>
              <a:t>Chat · 参谋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544" y="2167128"/>
            <a:ext cx="3319272" cy="8488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3162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4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陪你想。</a:t>
            </a:r>
          </a:p>
          <a:p>
            <a:pPr algn="l">
              <a:lnSpc>
                <a:spcPts val="3162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4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你得在场，它问你答。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17720" y="1691640"/>
            <a:ext cx="3776472" cy="1890522"/>
          </a:xfrm>
          <a:prstGeom prst="roundRect">
            <a:avLst>
              <a:gd name="adj" fmla="val 4000"/>
            </a:avLst>
          </a:prstGeom>
          <a:solidFill>
            <a:srgbClr val="EBF4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17720" y="1691640"/>
            <a:ext cx="64008" cy="1890522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55464" y="1856232"/>
            <a:ext cx="3410712" cy="2743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1" i="0">
                <a:solidFill>
                  <a:srgbClr val="1E8449"/>
                </a:solidFill>
                <a:latin typeface="PingFang SC"/>
                <a:ea typeface="PingFang SC"/>
                <a:cs typeface="PingFang SC"/>
              </a:rPr>
              <a:t>Work · 包工头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55464" y="2167128"/>
            <a:ext cx="3319272" cy="125044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3162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4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替你干。</a:t>
            </a:r>
          </a:p>
          <a:p>
            <a:pPr algn="l">
              <a:lnSpc>
                <a:spcPts val="3162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4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交代清楚就走开，回来验收。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765041"/>
            <a:ext cx="7708392" cy="1054608"/>
          </a:xfrm>
          <a:prstGeom prst="rect">
            <a:avLst/>
          </a:prstGeom>
          <a:solidFill>
            <a:srgbClr val="FFF8D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3765041"/>
            <a:ext cx="64008" cy="1054608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929633"/>
            <a:ext cx="7251192" cy="77114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85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40" b="1" i="0">
                <a:solidFill>
                  <a:srgbClr val="3A2D00"/>
                </a:solidFill>
                <a:latin typeface="PingFang SC"/>
                <a:ea typeface="PingFang SC"/>
                <a:cs typeface="PingFang SC"/>
              </a:rPr>
              <a:t>想不清楚的事，别急着派活；</a:t>
            </a:r>
          </a:p>
          <a:p>
            <a:pPr algn="l">
              <a:lnSpc>
                <a:spcPts val="285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40" b="1" i="0">
                <a:solidFill>
                  <a:srgbClr val="3A2D00"/>
                </a:solidFill>
                <a:latin typeface="PingFang SC"/>
                <a:ea typeface="PingFang SC"/>
                <a:cs typeface="PingFang SC"/>
              </a:rPr>
              <a:t>想清楚了，就别一句一句聊。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6656" y="521207"/>
            <a:ext cx="7315200" cy="3657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1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二奢老板的分工清单 · 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841248"/>
            <a:ext cx="7982712" cy="612802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410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479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用 Chat 想的 6 件事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682495"/>
            <a:ext cx="850392" cy="41148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808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6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2728" y="1737360"/>
            <a:ext cx="7141464" cy="36461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511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2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定位：用 10/14 的三角图，让它反问你，写出定位句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157984"/>
            <a:ext cx="7708392" cy="9144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2167127"/>
            <a:ext cx="850392" cy="41148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808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6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52728" y="2221991"/>
            <a:ext cx="7141464" cy="36461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511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2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活动方案：双 11、年底清库存，先让它搭框架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642616"/>
            <a:ext cx="7708392" cy="9144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" y="2651760"/>
            <a:ext cx="850392" cy="41148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808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6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2728" y="2706624"/>
            <a:ext cx="7141464" cy="36461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511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2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话术陪练：让它扮演砍价、白嫖估价的客户，你来接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127248"/>
            <a:ext cx="7708392" cy="9144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3136392"/>
            <a:ext cx="850392" cy="41148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808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6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52728" y="3191256"/>
            <a:ext cx="7141464" cy="36461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511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2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选题：一个爆款只换人群、换品牌，出 30 个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611880"/>
            <a:ext cx="7708392" cy="9144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" y="3621024"/>
            <a:ext cx="850392" cy="41148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808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6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52728" y="3675888"/>
            <a:ext cx="7141464" cy="36461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511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2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复盘：把这个月的几个数字说给它，让它问你问题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4096512"/>
            <a:ext cx="7708392" cy="9144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4105656"/>
            <a:ext cx="850392" cy="41148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808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6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52728" y="4160520"/>
            <a:ext cx="7141464" cy="36461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511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2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学新规：平台新规则让它讲给你听，最后看原文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6656" y="521207"/>
            <a:ext cx="7315200" cy="3657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1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二奢老板的分工清单 · 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841248"/>
            <a:ext cx="7982712" cy="612802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410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479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用 Work 干的 6 件事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682495"/>
            <a:ext cx="850392" cy="41148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808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6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2728" y="1737360"/>
            <a:ext cx="7141464" cy="36461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511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2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录音逐字稿 → 一周 7 条朋友圈 + 选题表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157984"/>
            <a:ext cx="7708392" cy="9144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2167127"/>
            <a:ext cx="850392" cy="41148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808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6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52728" y="2221991"/>
            <a:ext cx="7141464" cy="36461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511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2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一个文件夹的货品信息 → 每只一段上新文案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642616"/>
            <a:ext cx="7708392" cy="9144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" y="2651760"/>
            <a:ext cx="850392" cy="41148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808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6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2728" y="2706624"/>
            <a:ext cx="7141464" cy="36461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511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2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库存表 → 超过 30 天的货 + 处理建议（07-15）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127248"/>
            <a:ext cx="7708392" cy="9144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3136392"/>
            <a:ext cx="850392" cy="41148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808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6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52728" y="3191256"/>
            <a:ext cx="7141464" cy="36461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511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2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直播回放逐字稿 → 切片选题 + 口播稿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611880"/>
            <a:ext cx="7708392" cy="9144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" y="3621024"/>
            <a:ext cx="850392" cy="41148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808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6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52728" y="3675888"/>
            <a:ext cx="7141464" cy="36461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511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2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脱敏后的成交记录 → 客户分层表，方便打标签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4096512"/>
            <a:ext cx="7708392" cy="9144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4105656"/>
            <a:ext cx="850392" cy="41148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808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6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52728" y="4160520"/>
            <a:ext cx="7141464" cy="36461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511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2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定时任务：每天早上推当天朋友圈，每周一出库存周报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6656" y="521207"/>
            <a:ext cx="7315200" cy="3657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1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这些话，你可能也说过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841248"/>
            <a:ext cx="7982712" cy="612802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410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479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八个错误认知 · 上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73352"/>
            <a:ext cx="630936" cy="457200"/>
          </a:xfrm>
          <a:prstGeom prst="rect">
            <a:avLst/>
          </a:prstGeom>
          <a:solidFill>
            <a:srgbClr val="F3F0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2112264"/>
            <a:ext cx="630936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1773936"/>
            <a:ext cx="384047" cy="2743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#</a:t>
            </a:r>
          </a:p>
        </p:txBody>
      </p:sp>
      <p:sp>
        <p:nvSpPr>
          <p:cNvPr id="7" name="Rectangle 6"/>
          <p:cNvSpPr/>
          <p:nvPr/>
        </p:nvSpPr>
        <p:spPr>
          <a:xfrm>
            <a:off x="1325880" y="1673352"/>
            <a:ext cx="2642616" cy="457200"/>
          </a:xfrm>
          <a:prstGeom prst="rect">
            <a:avLst/>
          </a:prstGeom>
          <a:solidFill>
            <a:srgbClr val="F3F0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25880" y="2112264"/>
            <a:ext cx="2642616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53895" y="1773936"/>
            <a:ext cx="2395728" cy="2743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错误认知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77639" y="1673352"/>
            <a:ext cx="4407408" cy="457200"/>
          </a:xfrm>
          <a:prstGeom prst="rect">
            <a:avLst/>
          </a:prstGeom>
          <a:solidFill>
            <a:srgbClr val="F3F0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977639" y="2112264"/>
            <a:ext cx="4407408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05655" y="1773936"/>
            <a:ext cx="4160520" cy="2743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真相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" y="2203704"/>
            <a:ext cx="384047" cy="3314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53895" y="2203704"/>
            <a:ext cx="2395728" cy="3314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AI 就是个聊天的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05655" y="2203704"/>
            <a:ext cx="4160520" cy="3314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3.0 已经能干活，交给你的是做好的文件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2553462"/>
            <a:ext cx="630936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325880" y="2553462"/>
            <a:ext cx="2642616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977639" y="2553462"/>
            <a:ext cx="4407408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" y="2635758"/>
            <a:ext cx="384047" cy="3314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53895" y="2635758"/>
            <a:ext cx="2395728" cy="3314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AI 什么都懂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05655" y="2635758"/>
            <a:ext cx="4160520" cy="6172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不懂你的店和今天的行情，还会编。</a:t>
            </a:r>
          </a:p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价格、行情、规定，一律自己核实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3271266"/>
            <a:ext cx="630936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325880" y="3271266"/>
            <a:ext cx="2642616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977639" y="3271266"/>
            <a:ext cx="4407408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3816" y="3353562"/>
            <a:ext cx="384047" cy="3314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53895" y="3353562"/>
            <a:ext cx="2395728" cy="3314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一句话就能出好东西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05655" y="3353562"/>
            <a:ext cx="4160520" cy="6172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不给背景和素材，</a:t>
            </a:r>
          </a:p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只能写出谁都能写的东西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" y="3989070"/>
            <a:ext cx="630936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325880" y="3989070"/>
            <a:ext cx="2642616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977639" y="3989070"/>
            <a:ext cx="4407408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3816" y="4071366"/>
            <a:ext cx="384047" cy="3314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53895" y="4071366"/>
            <a:ext cx="2395728" cy="3314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AI 写的可以直接发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05655" y="4071366"/>
            <a:ext cx="4160520" cy="6172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客户看得出 AI 味，回复像 AI 会丢单。</a:t>
            </a:r>
          </a:p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AI 出初稿，你过嘴改稿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" y="4706874"/>
            <a:ext cx="630936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325880" y="4706874"/>
            <a:ext cx="2642616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977639" y="4706874"/>
            <a:ext cx="4407408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6656" y="521207"/>
            <a:ext cx="7315200" cy="3657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1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这些话，你可能也说过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841248"/>
            <a:ext cx="7982712" cy="612802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410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479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八个错误认知 · 下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73352"/>
            <a:ext cx="630936" cy="457200"/>
          </a:xfrm>
          <a:prstGeom prst="rect">
            <a:avLst/>
          </a:prstGeom>
          <a:solidFill>
            <a:srgbClr val="F3F0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2112264"/>
            <a:ext cx="630936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1773936"/>
            <a:ext cx="384047" cy="2743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#</a:t>
            </a:r>
          </a:p>
        </p:txBody>
      </p:sp>
      <p:sp>
        <p:nvSpPr>
          <p:cNvPr id="7" name="Rectangle 6"/>
          <p:cNvSpPr/>
          <p:nvPr/>
        </p:nvSpPr>
        <p:spPr>
          <a:xfrm>
            <a:off x="1325880" y="1673352"/>
            <a:ext cx="2642616" cy="457200"/>
          </a:xfrm>
          <a:prstGeom prst="rect">
            <a:avLst/>
          </a:prstGeom>
          <a:solidFill>
            <a:srgbClr val="F3F0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25880" y="2112264"/>
            <a:ext cx="2642616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53895" y="1773936"/>
            <a:ext cx="2395728" cy="2743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错误认知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77639" y="1673352"/>
            <a:ext cx="4407408" cy="457200"/>
          </a:xfrm>
          <a:prstGeom prst="rect">
            <a:avLst/>
          </a:prstGeom>
          <a:solidFill>
            <a:srgbClr val="F3F0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977639" y="2112264"/>
            <a:ext cx="4407408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05655" y="1773936"/>
            <a:ext cx="4160520" cy="2743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真相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" y="2203704"/>
            <a:ext cx="384047" cy="3314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53895" y="2203704"/>
            <a:ext cx="2395728" cy="3314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工具越多越好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05655" y="2203704"/>
            <a:ext cx="4160520" cy="6172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差生文具多（04-08）。</a:t>
            </a:r>
          </a:p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一个 Chat、一个 Work，用熟就够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2839212"/>
            <a:ext cx="630936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325880" y="2839212"/>
            <a:ext cx="2642616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977639" y="2839212"/>
            <a:ext cx="4407408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" y="2921508"/>
            <a:ext cx="384047" cy="3314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53895" y="2921508"/>
            <a:ext cx="2395728" cy="3314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AI 能帮我辨真假、定价格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05655" y="2921508"/>
            <a:ext cx="4160520" cy="6172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它不能拍板。</a:t>
            </a:r>
          </a:p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看货、定价、收不收，最后都是你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3557016"/>
            <a:ext cx="630936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325880" y="3557016"/>
            <a:ext cx="2642616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977639" y="3557016"/>
            <a:ext cx="4407408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3816" y="3639312"/>
            <a:ext cx="384047" cy="3314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53895" y="3639312"/>
            <a:ext cx="2395728" cy="6172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AI 会抢饭碗，或者我学不会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05655" y="3639312"/>
            <a:ext cx="4160520" cy="6172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它抢的是重复的活。</a:t>
            </a:r>
          </a:p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会说话，就会用 AI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" y="4274820"/>
            <a:ext cx="630936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325880" y="4274820"/>
            <a:ext cx="2642616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977639" y="4274820"/>
            <a:ext cx="4407408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3816" y="4357116"/>
            <a:ext cx="384047" cy="3314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53895" y="4357116"/>
            <a:ext cx="2395728" cy="3314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资料随便丢给它都没事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05655" y="4357116"/>
            <a:ext cx="4160520" cy="6172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身份证、手机号、银行卡不进 AI；</a:t>
            </a:r>
          </a:p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Work 只给它一个文件夹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" y="4992624"/>
            <a:ext cx="630936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325880" y="4992624"/>
            <a:ext cx="2642616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977639" y="4992624"/>
            <a:ext cx="4407408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6656" y="521207"/>
            <a:ext cx="7315200" cy="3657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1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边界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841248"/>
            <a:ext cx="7982712" cy="612802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410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479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放心交给它，必须你拍板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91640"/>
            <a:ext cx="3776472" cy="2008632"/>
          </a:xfrm>
          <a:prstGeom prst="roundRect">
            <a:avLst>
              <a:gd name="adj" fmla="val 4000"/>
            </a:avLst>
          </a:prstGeom>
          <a:solidFill>
            <a:srgbClr val="EBF4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691640"/>
            <a:ext cx="64008" cy="2008632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23544" y="1856232"/>
            <a:ext cx="3410712" cy="2743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1" i="0">
                <a:solidFill>
                  <a:srgbClr val="1E8449"/>
                </a:solidFill>
                <a:latin typeface="PingFang SC"/>
                <a:ea typeface="PingFang SC"/>
                <a:cs typeface="PingFang SC"/>
              </a:rPr>
              <a:t>放心交给它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544" y="2167128"/>
            <a:ext cx="3319272" cy="136855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写初稿、改稿、换说法</a:t>
            </a:r>
          </a:p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整理、汇总、做表格</a:t>
            </a:r>
          </a:p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批量出东西、定时提醒</a:t>
            </a:r>
          </a:p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出框架、出选题、陪你练话术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17720" y="1691640"/>
            <a:ext cx="3776472" cy="2008632"/>
          </a:xfrm>
          <a:prstGeom prst="roundRect">
            <a:avLst>
              <a:gd name="adj" fmla="val 4000"/>
            </a:avLst>
          </a:prstGeom>
          <a:solidFill>
            <a:srgbClr val="FBEC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17720" y="1691640"/>
            <a:ext cx="64008" cy="2008632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55464" y="1856232"/>
            <a:ext cx="3410712" cy="2743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1" i="0">
                <a:solidFill>
                  <a:srgbClr val="922B21"/>
                </a:solidFill>
                <a:latin typeface="PingFang SC"/>
                <a:ea typeface="PingFang SC"/>
                <a:cs typeface="PingFang SC"/>
              </a:rPr>
              <a:t>必须你拍板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55464" y="2167128"/>
            <a:ext cx="3319272" cy="136855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这只包是真是假</a:t>
            </a:r>
          </a:p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最终报价，收不收</a:t>
            </a:r>
          </a:p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和客户建立信任</a:t>
            </a:r>
          </a:p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合不合规、客户故事真不真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3883152"/>
            <a:ext cx="7708392" cy="6362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32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安全底线：客户姓名、电话、身份证、银行卡，先删掉再给 AI；</a:t>
            </a:r>
          </a:p>
          <a:p>
            <a:pPr algn="l">
              <a:lnSpc>
                <a:spcPts val="232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Work 只给它一个文件夹，不让它删东西。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1481328"/>
            <a:ext cx="1498701" cy="310896"/>
          </a:xfrm>
          <a:prstGeom prst="roundRect">
            <a:avLst>
              <a:gd name="adj" fmla="val 9800"/>
            </a:avLst>
          </a:prstGeom>
          <a:solidFill>
            <a:srgbClr val="C039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504286"/>
            <a:ext cx="1498701" cy="310896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PART 02 /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94229" y="1508760"/>
            <a:ext cx="3657600" cy="3657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1" i="0">
                <a:solidFill>
                  <a:srgbClr val="9A9088"/>
                </a:solidFill>
                <a:latin typeface="PingFang SC"/>
                <a:ea typeface="PingFang SC"/>
                <a:cs typeface="PingFang SC"/>
              </a:rPr>
              <a:t>30–48 分钟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11095"/>
            <a:ext cx="819912" cy="329184"/>
          </a:xfrm>
          <a:prstGeom prst="roundRect">
            <a:avLst>
              <a:gd name="adj" fmla="val 9800"/>
            </a:avLst>
          </a:prstGeom>
          <a:solidFill>
            <a:srgbClr val="FFD16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54910"/>
            <a:ext cx="819912" cy="329184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怎 么 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2377440"/>
            <a:ext cx="8686800" cy="1771497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6614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624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先想</a:t>
            </a:r>
          </a:p>
          <a:p>
            <a:pPr algn="l">
              <a:lnSpc>
                <a:spcPts val="6614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624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再干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4240377"/>
            <a:ext cx="8686800" cy="54864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3312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760" b="1" i="0">
                <a:solidFill>
                  <a:srgbClr val="FFD166"/>
                </a:solidFill>
                <a:latin typeface="PingFang SC"/>
                <a:ea typeface="PingFang SC"/>
                <a:cs typeface="PingFang SC"/>
              </a:rPr>
              <a:t>先想后干五步 ｜ 派活五件套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6656" y="521207"/>
            <a:ext cx="7315200" cy="3657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1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一个圈，越转越像你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841248"/>
            <a:ext cx="7982712" cy="612802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410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479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先想后干五步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682495"/>
            <a:ext cx="850392" cy="41148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808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6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2728" y="1737360"/>
            <a:ext cx="7141464" cy="36461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511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2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在 Chat 里想清楚：让它反问你，把方向和标准想明白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157984"/>
            <a:ext cx="7708392" cy="9144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2167127"/>
            <a:ext cx="850392" cy="41148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808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6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52728" y="2221991"/>
            <a:ext cx="7141464" cy="36461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511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2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写成规则：一份提示词，或者一份档案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642616"/>
            <a:ext cx="7708392" cy="9144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" y="2651760"/>
            <a:ext cx="850392" cy="41148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808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6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2728" y="2706624"/>
            <a:ext cx="7141464" cy="36461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511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2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交给 Work 批量干：一个文件夹，一件交代清楚的活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127248"/>
            <a:ext cx="7708392" cy="9144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3136392"/>
            <a:ext cx="850392" cy="41148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808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6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52728" y="3191256"/>
            <a:ext cx="7141464" cy="36461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511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2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你来验收、改稿：有没有编、有没有 AI 味、有没有违规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611880"/>
            <a:ext cx="7708392" cy="9144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" y="3621024"/>
            <a:ext cx="850392" cy="41148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808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6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52728" y="3675888"/>
            <a:ext cx="7141464" cy="36461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511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2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改的地方写回规则：下次就按你的标准干（07-01）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4270248"/>
            <a:ext cx="7708392" cy="734567"/>
          </a:xfrm>
          <a:prstGeom prst="rect">
            <a:avLst/>
          </a:prstGeom>
          <a:solidFill>
            <a:srgbClr val="FFF8D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270248"/>
            <a:ext cx="64008" cy="734567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434840"/>
            <a:ext cx="7251192" cy="45110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3192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80" b="1" i="0">
                <a:solidFill>
                  <a:srgbClr val="3A2D00"/>
                </a:solidFill>
                <a:latin typeface="PingFang SC"/>
                <a:ea typeface="PingFang SC"/>
                <a:cs typeface="PingFang SC"/>
              </a:rPr>
              <a:t>转几圈以后，AI 就越来越像你。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6656" y="521207"/>
            <a:ext cx="7315200" cy="3657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1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为什么要这么做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841248"/>
            <a:ext cx="7982712" cy="612802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410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479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跳过任何一步，都会白干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91640"/>
            <a:ext cx="2478023" cy="1600200"/>
          </a:xfrm>
          <a:prstGeom prst="roundRect">
            <a:avLst>
              <a:gd name="adj" fmla="val 3000"/>
            </a:avLst>
          </a:prstGeom>
          <a:solidFill>
            <a:srgbClr val="F3F0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691640"/>
            <a:ext cx="2478023" cy="45720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892808"/>
            <a:ext cx="2203703" cy="3657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不想清楚就派活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331720"/>
            <a:ext cx="2148839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40" b="0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它很快干出</a:t>
            </a:r>
          </a:p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40" b="0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一堆你用不上的东西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00983" y="1691640"/>
            <a:ext cx="2478023" cy="1600200"/>
          </a:xfrm>
          <a:prstGeom prst="roundRect">
            <a:avLst>
              <a:gd name="adj" fmla="val 3000"/>
            </a:avLst>
          </a:prstGeom>
          <a:solidFill>
            <a:srgbClr val="F3F0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00983" y="1691640"/>
            <a:ext cx="2478023" cy="45720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65575" y="1892808"/>
            <a:ext cx="2203703" cy="3657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想清楚了还一句句聊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65575" y="2331720"/>
            <a:ext cx="2148839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40" b="0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你自己成了搬运工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16167" y="1691640"/>
            <a:ext cx="2478023" cy="1600200"/>
          </a:xfrm>
          <a:prstGeom prst="roundRect">
            <a:avLst>
              <a:gd name="adj" fmla="val 3000"/>
            </a:avLst>
          </a:prstGeom>
          <a:solidFill>
            <a:srgbClr val="F3F0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16167" y="1691640"/>
            <a:ext cx="2478023" cy="45720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59" y="1892808"/>
            <a:ext cx="2203703" cy="3657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规则只写一次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59" y="2331720"/>
            <a:ext cx="2148839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40" b="0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以后都按你的标准干，</a:t>
            </a:r>
          </a:p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40" b="0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攒多了就是 Skill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6656" y="521207"/>
            <a:ext cx="7315200" cy="3657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1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AI 出 80 分，你改到 100 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841248"/>
            <a:ext cx="7982712" cy="612802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410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479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验收看三样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91640"/>
            <a:ext cx="2478023" cy="1691640"/>
          </a:xfrm>
          <a:prstGeom prst="roundRect">
            <a:avLst>
              <a:gd name="adj" fmla="val 3000"/>
            </a:avLst>
          </a:prstGeom>
          <a:solidFill>
            <a:srgbClr val="F3F0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691640"/>
            <a:ext cx="2478023" cy="457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874520"/>
            <a:ext cx="2203703" cy="2743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0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148840"/>
            <a:ext cx="2203703" cy="4572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964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8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有没有编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651760"/>
            <a:ext cx="2148839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40" b="0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货、价格、客户故事，</a:t>
            </a:r>
          </a:p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40" b="0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是不是都来自素材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00983" y="1691640"/>
            <a:ext cx="2478023" cy="1691640"/>
          </a:xfrm>
          <a:prstGeom prst="roundRect">
            <a:avLst>
              <a:gd name="adj" fmla="val 3000"/>
            </a:avLst>
          </a:prstGeom>
          <a:solidFill>
            <a:srgbClr val="F3F0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00983" y="1691640"/>
            <a:ext cx="2478023" cy="457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65575" y="1874520"/>
            <a:ext cx="2203703" cy="2743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0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65575" y="2148840"/>
            <a:ext cx="2203703" cy="4572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964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8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有没有 AI 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65575" y="2651760"/>
            <a:ext cx="2148839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40" b="0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读出声，</a:t>
            </a:r>
          </a:p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40" b="0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像不像你平时说话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16167" y="1691640"/>
            <a:ext cx="2478023" cy="1691640"/>
          </a:xfrm>
          <a:prstGeom prst="roundRect">
            <a:avLst>
              <a:gd name="adj" fmla="val 3000"/>
            </a:avLst>
          </a:prstGeom>
          <a:solidFill>
            <a:srgbClr val="F3F0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16167" y="1691640"/>
            <a:ext cx="2478023" cy="457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80759" y="1874520"/>
            <a:ext cx="2203703" cy="2743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0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59" y="2148840"/>
            <a:ext cx="2203703" cy="4572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964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8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有没有违规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59" y="2651760"/>
            <a:ext cx="2148839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40" b="0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鉴定、绝对化用语、</a:t>
            </a:r>
          </a:p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40" b="0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承诺保值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" y="3611880"/>
            <a:ext cx="7708392" cy="3764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发出去的东西，由你负责。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6656" y="521207"/>
            <a:ext cx="7315200" cy="3657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1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Chat 的诀窍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841248"/>
            <a:ext cx="7982712" cy="612802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410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479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让 AI 反问你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91640"/>
            <a:ext cx="7708392" cy="1600200"/>
          </a:xfrm>
          <a:prstGeom prst="roundRect">
            <a:avLst>
              <a:gd name="adj" fmla="val 5000"/>
            </a:avLst>
          </a:prstGeom>
          <a:solidFill>
            <a:srgbClr val="ECE7D8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8408" y="1874519"/>
            <a:ext cx="3657600" cy="2743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1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一 句 话 就 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8408" y="2212848"/>
            <a:ext cx="7132320" cy="100584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3588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76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“先别写，</a:t>
            </a:r>
          </a:p>
          <a:p>
            <a:pPr algn="l">
              <a:lnSpc>
                <a:spcPts val="3588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76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一次只问我一个问题。”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3474720"/>
            <a:ext cx="7708392" cy="36461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511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20" b="0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它问，你答。问完它才真正知道你是谁。下一页现场演示。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21207"/>
            <a:ext cx="745759" cy="310896"/>
          </a:xfrm>
          <a:prstGeom prst="roundRect">
            <a:avLst>
              <a:gd name="adj" fmla="val 9800"/>
            </a:avLst>
          </a:prstGeom>
          <a:solidFill>
            <a:srgbClr val="C039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44166"/>
            <a:ext cx="745759" cy="310896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演示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41287" y="548640"/>
            <a:ext cx="5943600" cy="3657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1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Chat · 写定位句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896112"/>
            <a:ext cx="7982712" cy="612802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410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479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让 AI 反问你，写出定位句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7708392" cy="2642362"/>
          </a:xfrm>
          <a:prstGeom prst="roundRect">
            <a:avLst>
              <a:gd name="adj" fmla="val 3000"/>
            </a:avLst>
          </a:prstGeom>
          <a:solidFill>
            <a:srgbClr val="F3F0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91640"/>
            <a:ext cx="64008" cy="2642362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56232"/>
            <a:ext cx="6858000" cy="2743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1" i="0">
                <a:solidFill>
                  <a:srgbClr val="922B21"/>
                </a:solidFill>
                <a:latin typeface="PingFang SC"/>
                <a:ea typeface="PingFang SC"/>
                <a:cs typeface="PingFang SC"/>
              </a:rPr>
              <a:t>提示词①（课后发群）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85416"/>
            <a:ext cx="7205472" cy="19748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17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0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你是二手奢侈品行业的经营顾问。</a:t>
            </a:r>
          </a:p>
          <a:p>
            <a:pPr algn="l">
              <a:lnSpc>
                <a:spcPts val="217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0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我想写一句店铺定位，格式是：我是谁 + 帮什么样的客户 + 解决什么问题。</a:t>
            </a:r>
          </a:p>
          <a:p>
            <a:pPr algn="l">
              <a:lnSpc>
                <a:spcPts val="217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0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先不要写。请一次只问我一个问题，围绕三件事问清楚：</a:t>
            </a:r>
          </a:p>
          <a:p>
            <a:pPr algn="l">
              <a:lnSpc>
                <a:spcPts val="217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0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1. 我的人设：我专业在哪里，我懂客户的什么顾虑</a:t>
            </a:r>
          </a:p>
          <a:p>
            <a:pPr algn="l">
              <a:lnSpc>
                <a:spcPts val="217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0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2. 我的人群：手里有货的人还是要买的人，急不急，买不买得起</a:t>
            </a:r>
          </a:p>
          <a:p>
            <a:pPr algn="l">
              <a:lnSpc>
                <a:spcPts val="217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0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3. 客户的需求：他要什么结果，这个结果能不能用数字说清楚</a:t>
            </a:r>
          </a:p>
          <a:p>
            <a:pPr algn="l">
              <a:lnSpc>
                <a:spcPts val="217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0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问完 5–8 个问题后，给我 3 句定位备选，说明每句适合什么阶段的店。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" y="4498594"/>
            <a:ext cx="7708392" cy="34099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32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现场用我自己的店回答它的问题。这就是 10/14 的三角图：人设、人群、需求。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21207"/>
            <a:ext cx="745759" cy="310896"/>
          </a:xfrm>
          <a:prstGeom prst="roundRect">
            <a:avLst>
              <a:gd name="adj" fmla="val 9800"/>
            </a:avLst>
          </a:prstGeom>
          <a:solidFill>
            <a:srgbClr val="C039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44166"/>
            <a:ext cx="745759" cy="310896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演示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41287" y="548640"/>
            <a:ext cx="5943600" cy="3657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1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Chat · 出选题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896112"/>
            <a:ext cx="7982712" cy="612802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410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479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接着出 30 个选题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7708392" cy="1815592"/>
          </a:xfrm>
          <a:prstGeom prst="roundRect">
            <a:avLst>
              <a:gd name="adj" fmla="val 3000"/>
            </a:avLst>
          </a:prstGeom>
          <a:solidFill>
            <a:srgbClr val="F3F0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91640"/>
            <a:ext cx="64008" cy="1815592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56232"/>
            <a:ext cx="6858000" cy="2743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1" i="0">
                <a:solidFill>
                  <a:srgbClr val="922B21"/>
                </a:solidFill>
                <a:latin typeface="PingFang SC"/>
                <a:ea typeface="PingFang SC"/>
                <a:cs typeface="PingFang SC"/>
              </a:rPr>
              <a:t>提示词②（在同一个对话里接着发）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85416"/>
            <a:ext cx="7205472" cy="1148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17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0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用你刚才给的第 1 句定位，按“换人群”的方法给我 30 个短视频或朋友圈选题：</a:t>
            </a:r>
          </a:p>
          <a:p>
            <a:pPr algn="l">
              <a:lnSpc>
                <a:spcPts val="217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0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同一个客户痛点，分别换品牌（LV、古驰、香奈儿……）、</a:t>
            </a:r>
          </a:p>
          <a:p>
            <a:pPr algn="l">
              <a:lnSpc>
                <a:spcPts val="217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0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换人群（上班族、白领、应届生、宝妈……）。</a:t>
            </a:r>
          </a:p>
          <a:p>
            <a:pPr algn="l">
              <a:lnSpc>
                <a:spcPts val="217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0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每个选题一行，标注是给想出手的人，还是给想买的人。不写鉴定类选题。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3690112"/>
            <a:ext cx="7708392" cy="1054608"/>
          </a:xfrm>
          <a:prstGeom prst="rect">
            <a:avLst/>
          </a:prstGeom>
          <a:solidFill>
            <a:srgbClr val="FFF8D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3690112"/>
            <a:ext cx="64008" cy="1054608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854704"/>
            <a:ext cx="7251192" cy="77114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85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40" b="1" i="0">
                <a:solidFill>
                  <a:srgbClr val="3A2D00"/>
                </a:solidFill>
                <a:latin typeface="PingFang SC"/>
                <a:ea typeface="PingFang SC"/>
                <a:cs typeface="PingFang SC"/>
              </a:rPr>
              <a:t>干货不变，变的是人群。</a:t>
            </a:r>
          </a:p>
          <a:p>
            <a:pPr algn="l">
              <a:lnSpc>
                <a:spcPts val="285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40" b="1" i="0">
                <a:solidFill>
                  <a:srgbClr val="3A2D00"/>
                </a:solidFill>
                <a:latin typeface="PingFang SC"/>
                <a:ea typeface="PingFang SC"/>
                <a:cs typeface="PingFang SC"/>
              </a:rPr>
              <a:t>一个爆款，换个人群就是一条新内容。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6656" y="521207"/>
            <a:ext cx="7315200" cy="3657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1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给 Work 派活，交代这五样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841248"/>
            <a:ext cx="7982712" cy="612802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410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479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派活五件套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73352"/>
            <a:ext cx="1271016" cy="457200"/>
          </a:xfrm>
          <a:prstGeom prst="rect">
            <a:avLst/>
          </a:prstGeom>
          <a:solidFill>
            <a:srgbClr val="F3F0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2112264"/>
            <a:ext cx="1271016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1773936"/>
            <a:ext cx="1024127" cy="2743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件</a:t>
            </a:r>
          </a:p>
        </p:txBody>
      </p:sp>
      <p:sp>
        <p:nvSpPr>
          <p:cNvPr id="7" name="Rectangle 6"/>
          <p:cNvSpPr/>
          <p:nvPr/>
        </p:nvSpPr>
        <p:spPr>
          <a:xfrm>
            <a:off x="1965960" y="1673352"/>
            <a:ext cx="2916936" cy="457200"/>
          </a:xfrm>
          <a:prstGeom prst="rect">
            <a:avLst/>
          </a:prstGeom>
          <a:solidFill>
            <a:srgbClr val="F3F0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965960" y="2112264"/>
            <a:ext cx="2916936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93976" y="1773936"/>
            <a:ext cx="2670048" cy="2743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是什么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92040" y="1673352"/>
            <a:ext cx="3493008" cy="457200"/>
          </a:xfrm>
          <a:prstGeom prst="rect">
            <a:avLst/>
          </a:prstGeom>
          <a:solidFill>
            <a:srgbClr val="F3F0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892040" y="2112264"/>
            <a:ext cx="3493008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0055" y="1773936"/>
            <a:ext cx="3246120" cy="2743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朋友圈提示词里对应哪一节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" y="2203704"/>
            <a:ext cx="1024127" cy="3314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背景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93976" y="2203704"/>
            <a:ext cx="2670048" cy="3314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我是谁、我的店、我的客户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0055" y="2203704"/>
            <a:ext cx="3246120" cy="3314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零、我的档案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2553462"/>
            <a:ext cx="1271016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65960" y="2553462"/>
            <a:ext cx="2916936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892040" y="2553462"/>
            <a:ext cx="3493008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" y="2635758"/>
            <a:ext cx="1024127" cy="3314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素材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93976" y="2635758"/>
            <a:ext cx="2670048" cy="3314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录音、表格、照片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0055" y="2635758"/>
            <a:ext cx="3246120" cy="3314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逐字稿文件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2985516"/>
            <a:ext cx="1271016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965960" y="2985516"/>
            <a:ext cx="2916936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892040" y="2985516"/>
            <a:ext cx="3493008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3816" y="3067812"/>
            <a:ext cx="1024127" cy="3314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要求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93976" y="3067812"/>
            <a:ext cx="2670048" cy="3314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格式、字数、红线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0055" y="3067812"/>
            <a:ext cx="3246120" cy="6172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二、核心铁律</a:t>
            </a:r>
          </a:p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七、写作硬性要求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" y="3703320"/>
            <a:ext cx="1271016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965960" y="3703320"/>
            <a:ext cx="2916936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892040" y="3703320"/>
            <a:ext cx="3493008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3816" y="3785616"/>
            <a:ext cx="1024127" cy="3314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例子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93976" y="3785616"/>
            <a:ext cx="2670048" cy="3314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我写过的好东西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0055" y="3785616"/>
            <a:ext cx="3246120" cy="3314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档案里的 3–5 条朋友圈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" y="4135374"/>
            <a:ext cx="1271016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965960" y="4135374"/>
            <a:ext cx="2916936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892040" y="4135374"/>
            <a:ext cx="3493008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3816" y="4217670"/>
            <a:ext cx="1024127" cy="3314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验收标准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93976" y="4217670"/>
            <a:ext cx="2670048" cy="3314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什么样算合格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0055" y="4217670"/>
            <a:ext cx="3246120" cy="3314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十一、交付前自查清单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5800" y="4567428"/>
            <a:ext cx="1271016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965960" y="4567428"/>
            <a:ext cx="2916936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892040" y="4567428"/>
            <a:ext cx="3493008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759452"/>
            <a:ext cx="7708392" cy="34099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32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提示词很长，拆开就是这五样。写一次，以后每周都能用。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1481328"/>
            <a:ext cx="1498701" cy="310896"/>
          </a:xfrm>
          <a:prstGeom prst="roundRect">
            <a:avLst>
              <a:gd name="adj" fmla="val 9800"/>
            </a:avLst>
          </a:prstGeom>
          <a:solidFill>
            <a:srgbClr val="C039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504286"/>
            <a:ext cx="1498701" cy="310896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PART 03 /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94229" y="1508760"/>
            <a:ext cx="3657600" cy="3657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1" i="0">
                <a:solidFill>
                  <a:srgbClr val="9A9088"/>
                </a:solidFill>
                <a:latin typeface="PingFang SC"/>
                <a:ea typeface="PingFang SC"/>
                <a:cs typeface="PingFang SC"/>
              </a:rPr>
              <a:t>48–56 分钟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11095"/>
            <a:ext cx="585215" cy="329184"/>
          </a:xfrm>
          <a:prstGeom prst="roundRect">
            <a:avLst>
              <a:gd name="adj" fmla="val 9800"/>
            </a:avLst>
          </a:prstGeom>
          <a:solidFill>
            <a:srgbClr val="FFD16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54910"/>
            <a:ext cx="585215" cy="329184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实 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2377440"/>
            <a:ext cx="8686800" cy="1771497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6614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624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一个文件夹</a:t>
            </a:r>
          </a:p>
          <a:p>
            <a:pPr algn="l">
              <a:lnSpc>
                <a:spcPts val="6614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624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出一周朋友圈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4240377"/>
            <a:ext cx="8686800" cy="54864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3312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760" b="1" i="0">
                <a:solidFill>
                  <a:srgbClr val="FFD166"/>
                </a:solidFill>
                <a:latin typeface="PingFang SC"/>
                <a:ea typeface="PingFang SC"/>
                <a:cs typeface="PingFang SC"/>
              </a:rPr>
              <a:t>Work 演示 ｜ 验收改稿 ｜ 库存表预警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21207"/>
            <a:ext cx="745759" cy="310896"/>
          </a:xfrm>
          <a:prstGeom prst="roundRect">
            <a:avLst>
              <a:gd name="adj" fmla="val 9800"/>
            </a:avLst>
          </a:prstGeom>
          <a:solidFill>
            <a:srgbClr val="C039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44166"/>
            <a:ext cx="745759" cy="310896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演示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41287" y="548640"/>
            <a:ext cx="5943600" cy="3657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1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Work · 备文件夹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896112"/>
            <a:ext cx="7982712" cy="612802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410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479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先备好一个文件夹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1645920"/>
            <a:ext cx="5486400" cy="2743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1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文件夹：10-28演示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011680"/>
            <a:ext cx="2478023" cy="1691640"/>
          </a:xfrm>
          <a:prstGeom prst="roundRect">
            <a:avLst>
              <a:gd name="adj" fmla="val 3000"/>
            </a:avLst>
          </a:prstGeom>
          <a:solidFill>
            <a:srgbClr val="F3F0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011680"/>
            <a:ext cx="2478023" cy="45720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2194560"/>
            <a:ext cx="2203703" cy="2743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0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文件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468880"/>
            <a:ext cx="2203703" cy="3657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录音逐字稿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907792"/>
            <a:ext cx="2148839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40" b="0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自己店里的一段，</a:t>
            </a:r>
          </a:p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40" b="0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先删掉客户姓名、电话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00983" y="2011680"/>
            <a:ext cx="2478023" cy="1691640"/>
          </a:xfrm>
          <a:prstGeom prst="roundRect">
            <a:avLst>
              <a:gd name="adj" fmla="val 3000"/>
            </a:avLst>
          </a:prstGeom>
          <a:solidFill>
            <a:srgbClr val="F3F0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00983" y="2011680"/>
            <a:ext cx="2478023" cy="45720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65575" y="2194560"/>
            <a:ext cx="2203703" cy="2743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0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文件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65575" y="2468880"/>
            <a:ext cx="2203703" cy="3657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朋友圈提示词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65575" y="2907792"/>
            <a:ext cx="2148839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40" b="0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上次发的二奢老板版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16167" y="2011680"/>
            <a:ext cx="2478023" cy="1691640"/>
          </a:xfrm>
          <a:prstGeom prst="roundRect">
            <a:avLst>
              <a:gd name="adj" fmla="val 3000"/>
            </a:avLst>
          </a:prstGeom>
          <a:solidFill>
            <a:srgbClr val="F3F0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16167" y="2011680"/>
            <a:ext cx="2478023" cy="45720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80759" y="2194560"/>
            <a:ext cx="2203703" cy="2743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0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文件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59" y="2468880"/>
            <a:ext cx="2203703" cy="3657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我写过的朋友圈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59" y="2907792"/>
            <a:ext cx="2148839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40" b="0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3–5 条，</a:t>
            </a:r>
          </a:p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40" b="0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让它学我的口气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3886200"/>
            <a:ext cx="7708392" cy="691895"/>
          </a:xfrm>
          <a:prstGeom prst="rect">
            <a:avLst/>
          </a:prstGeom>
          <a:solidFill>
            <a:srgbClr val="FFF8D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3886200"/>
            <a:ext cx="64008" cy="691895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4050792"/>
            <a:ext cx="7251192" cy="40843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85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40" b="1" i="0">
                <a:solidFill>
                  <a:srgbClr val="3A2D00"/>
                </a:solidFill>
                <a:latin typeface="PingFang SC"/>
                <a:ea typeface="PingFang SC"/>
                <a:cs typeface="PingFang SC"/>
              </a:rPr>
              <a:t>一个项目一个文件夹。它只看这个文件夹，别的文件碰不到。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21207"/>
            <a:ext cx="745759" cy="310896"/>
          </a:xfrm>
          <a:prstGeom prst="roundRect">
            <a:avLst>
              <a:gd name="adj" fmla="val 9800"/>
            </a:avLst>
          </a:prstGeom>
          <a:solidFill>
            <a:srgbClr val="C039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44166"/>
            <a:ext cx="745759" cy="310896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演示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41287" y="548640"/>
            <a:ext cx="5943600" cy="3657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1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Work · 派活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896112"/>
            <a:ext cx="7982712" cy="612802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410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479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在 WorkBuddy 里派活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7708392" cy="1815592"/>
          </a:xfrm>
          <a:prstGeom prst="roundRect">
            <a:avLst>
              <a:gd name="adj" fmla="val 3000"/>
            </a:avLst>
          </a:prstGeom>
          <a:solidFill>
            <a:srgbClr val="F3F0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91640"/>
            <a:ext cx="64008" cy="1815592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56232"/>
            <a:ext cx="6858000" cy="2743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1" i="0">
                <a:solidFill>
                  <a:srgbClr val="922B21"/>
                </a:solidFill>
                <a:latin typeface="PingFang SC"/>
                <a:ea typeface="PingFang SC"/>
                <a:cs typeface="PingFang SC"/>
              </a:rPr>
              <a:t>派活的话（选中“10-28演示”文件夹）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85416"/>
            <a:ext cx="7205472" cy="1148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17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0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读这个文件夹里的《朋友圈提示词》和录音逐字稿，按提示词的规则写下周 7 条朋友圈。</a:t>
            </a:r>
          </a:p>
          <a:p>
            <a:pPr algn="l">
              <a:lnSpc>
                <a:spcPts val="217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0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存成一张表格放回这个文件夹，列是：</a:t>
            </a:r>
          </a:p>
          <a:p>
            <a:pPr algn="l">
              <a:lnSpc>
                <a:spcPts val="217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0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周几、类型、正文、评论区补一句、配图建议、建议可见分组、备注。</a:t>
            </a:r>
          </a:p>
          <a:p>
            <a:pPr algn="l">
              <a:lnSpc>
                <a:spcPts val="217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0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不要改动、也不要删除文件夹里原有的文件。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" y="3671824"/>
            <a:ext cx="7708392" cy="34099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32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等它干活的时候：它在一步步自己做，你可以去忙别的。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21207"/>
            <a:ext cx="745759" cy="310896"/>
          </a:xfrm>
          <a:prstGeom prst="roundRect">
            <a:avLst>
              <a:gd name="adj" fmla="val 9800"/>
            </a:avLst>
          </a:prstGeom>
          <a:solidFill>
            <a:srgbClr val="C039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44166"/>
            <a:ext cx="745759" cy="310896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演示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41287" y="548640"/>
            <a:ext cx="5943600" cy="3657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1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验收 · 改稿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896112"/>
            <a:ext cx="7982712" cy="612802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410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479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验收，再改一条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1682495"/>
            <a:ext cx="850392" cy="41148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808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6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52728" y="1737360"/>
            <a:ext cx="7141464" cy="36461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511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2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打开表格，先看三样：有没有编、有没有 AI 味、有没有违规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176272"/>
            <a:ext cx="7708392" cy="9144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" y="2203703"/>
            <a:ext cx="850392" cy="41148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808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6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52728" y="2258568"/>
            <a:ext cx="7141464" cy="36461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511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2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挑一条现场过嘴改稿：删掉 AI 腔，长句改短，换成我的口气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697480"/>
            <a:ext cx="7708392" cy="9144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" y="2724912"/>
            <a:ext cx="850392" cy="41148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808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6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52728" y="2779776"/>
            <a:ext cx="7141464" cy="36461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511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2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把改的地方告诉它：“以后别用‘不得不说’，句子再短一点”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438144"/>
            <a:ext cx="7708392" cy="734567"/>
          </a:xfrm>
          <a:prstGeom prst="rect">
            <a:avLst/>
          </a:prstGeom>
          <a:solidFill>
            <a:srgbClr val="FFF8D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3438144"/>
            <a:ext cx="64008" cy="734567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602736"/>
            <a:ext cx="7251192" cy="45110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3192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80" b="1" i="0">
                <a:solidFill>
                  <a:srgbClr val="3A2D00"/>
                </a:solidFill>
                <a:latin typeface="PingFang SC"/>
                <a:ea typeface="PingFang SC"/>
                <a:cs typeface="PingFang SC"/>
              </a:rPr>
              <a:t>这就是第 5 步：改的地方写回规则。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21207"/>
            <a:ext cx="745759" cy="310896"/>
          </a:xfrm>
          <a:prstGeom prst="roundRect">
            <a:avLst>
              <a:gd name="adj" fmla="val 9800"/>
            </a:avLst>
          </a:prstGeom>
          <a:solidFill>
            <a:srgbClr val="C039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44166"/>
            <a:ext cx="745759" cy="310896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演示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41287" y="548640"/>
            <a:ext cx="5943600" cy="3657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1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选做 · 时间够再做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896112"/>
            <a:ext cx="7982712" cy="612802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410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479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一张库存表，找出压款的货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7708392" cy="1540002"/>
          </a:xfrm>
          <a:prstGeom prst="roundRect">
            <a:avLst>
              <a:gd name="adj" fmla="val 3000"/>
            </a:avLst>
          </a:prstGeom>
          <a:solidFill>
            <a:srgbClr val="F3F0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91640"/>
            <a:ext cx="64008" cy="1540002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56232"/>
            <a:ext cx="6858000" cy="2743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1" i="0">
                <a:solidFill>
                  <a:srgbClr val="922B21"/>
                </a:solidFill>
                <a:latin typeface="PingFang SC"/>
                <a:ea typeface="PingFang SC"/>
                <a:cs typeface="PingFang SC"/>
              </a:rPr>
              <a:t>派活的话（用示例数据，或者脱敏后的表）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85416"/>
            <a:ext cx="7205472" cy="87249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17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0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读这个文件夹里的库存表，列出入库超过 30 天的货，按压款金额从高到低排序。</a:t>
            </a:r>
          </a:p>
          <a:p>
            <a:pPr algn="l">
              <a:lnSpc>
                <a:spcPts val="217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0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每只货给一句处理建议：降价、换渠道、私域首发，还是退回给寄卖客户，并写出理由。</a:t>
            </a:r>
          </a:p>
          <a:p>
            <a:pPr algn="l">
              <a:lnSpc>
                <a:spcPts val="217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0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结果存成一张新表格，不要改动原表。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" y="3396234"/>
            <a:ext cx="7708392" cy="34099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32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回扣 07-15 周转纪律：超过 30 天的货，要有处理方案。建议只是参考，最后你来定。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6656" y="521207"/>
            <a:ext cx="7315200" cy="3657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1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今晚就开始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841248"/>
            <a:ext cx="7982712" cy="612802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410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479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作业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91640"/>
            <a:ext cx="2478023" cy="1600200"/>
          </a:xfrm>
          <a:prstGeom prst="roundRect">
            <a:avLst>
              <a:gd name="adj" fmla="val 3000"/>
            </a:avLst>
          </a:prstGeom>
          <a:solidFill>
            <a:srgbClr val="F3F0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691640"/>
            <a:ext cx="2478023" cy="457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874520"/>
            <a:ext cx="2203703" cy="3657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79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起步店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313432"/>
            <a:ext cx="2185415" cy="1097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4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① 用提示词①写定位句</a:t>
            </a:r>
          </a:p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4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② 发到群里，我来改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00983" y="1691640"/>
            <a:ext cx="2478023" cy="1600200"/>
          </a:xfrm>
          <a:prstGeom prst="roundRect">
            <a:avLst>
              <a:gd name="adj" fmla="val 3000"/>
            </a:avLst>
          </a:prstGeom>
          <a:solidFill>
            <a:srgbClr val="F3F0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00983" y="1691640"/>
            <a:ext cx="2478023" cy="4572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65575" y="1874520"/>
            <a:ext cx="2203703" cy="3657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79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成熟店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65575" y="2313432"/>
            <a:ext cx="2185415" cy="1097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4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① 用 Work 做下周 7 条</a:t>
            </a:r>
          </a:p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4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② 自己改好其中 3 条</a:t>
            </a:r>
          </a:p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4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③ 截图发群里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16167" y="1691640"/>
            <a:ext cx="2478023" cy="1600200"/>
          </a:xfrm>
          <a:prstGeom prst="roundRect">
            <a:avLst>
              <a:gd name="adj" fmla="val 3000"/>
            </a:avLst>
          </a:prstGeom>
          <a:solidFill>
            <a:srgbClr val="F3F0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16167" y="1691640"/>
            <a:ext cx="2478023" cy="45720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59" y="1874520"/>
            <a:ext cx="2203703" cy="3657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79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所有人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59" y="2313432"/>
            <a:ext cx="2185415" cy="1097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4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① 写下最重复的 3 件活</a:t>
            </a:r>
          </a:p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4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② 下次挑一件做成 Skill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3520440"/>
            <a:ext cx="7708392" cy="34099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32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课后发群：提示词①②、两段派活的话。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6656" y="521207"/>
            <a:ext cx="7315200" cy="3657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1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下节课预告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841248"/>
            <a:ext cx="7982712" cy="612802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410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479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两个方向，二选一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91640"/>
            <a:ext cx="3776472" cy="1347216"/>
          </a:xfrm>
          <a:prstGeom prst="roundRect">
            <a:avLst>
              <a:gd name="adj" fmla="val 4000"/>
            </a:avLst>
          </a:prstGeom>
          <a:solidFill>
            <a:srgbClr val="F3F0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691640"/>
            <a:ext cx="64008" cy="134721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23544" y="1856232"/>
            <a:ext cx="3410712" cy="2743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1 · Skill 专场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544" y="2167128"/>
            <a:ext cx="3319272" cy="70713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把今天写的规则装进 AI，</a:t>
            </a:r>
          </a:p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变成一直能用的技能。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17720" y="1691640"/>
            <a:ext cx="3776472" cy="1347216"/>
          </a:xfrm>
          <a:prstGeom prst="roundRect">
            <a:avLst>
              <a:gd name="adj" fmla="val 4000"/>
            </a:avLst>
          </a:prstGeom>
          <a:solidFill>
            <a:srgbClr val="F3F0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17720" y="1691640"/>
            <a:ext cx="64008" cy="1347216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55464" y="1856232"/>
            <a:ext cx="3410712" cy="2743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1" i="0">
                <a:solidFill>
                  <a:srgbClr val="B8860B"/>
                </a:solidFill>
                <a:latin typeface="PingFang SC"/>
                <a:ea typeface="PingFang SC"/>
                <a:cs typeface="PingFang SC"/>
              </a:rPr>
              <a:t>2 · 双 11 和年前冲刺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55464" y="2167128"/>
            <a:ext cx="3319272" cy="70713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双 11 还有两周，</a:t>
            </a:r>
          </a:p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离过年三个月，排好节点内容。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3221736"/>
            <a:ext cx="7708392" cy="3764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公屏投票：1 还是 2？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6656" y="521207"/>
            <a:ext cx="7315200" cy="3657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1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最后一句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841248"/>
            <a:ext cx="7982712" cy="1134165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410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479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Chat 用来想</a:t>
            </a:r>
          </a:p>
          <a:p>
            <a:pPr algn="l">
              <a:lnSpc>
                <a:spcPts val="410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479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Work 用来干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240280"/>
            <a:ext cx="7708392" cy="1508760"/>
          </a:xfrm>
          <a:prstGeom prst="rect">
            <a:avLst/>
          </a:prstGeom>
          <a:solidFill>
            <a:srgbClr val="FFF8D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2240280"/>
            <a:ext cx="64008" cy="150876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450592"/>
            <a:ext cx="6858000" cy="1188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3864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760" b="1" i="0">
                <a:solidFill>
                  <a:srgbClr val="3A2D00"/>
                </a:solidFill>
                <a:latin typeface="PingFang SC"/>
                <a:ea typeface="PingFang SC"/>
                <a:cs typeface="PingFang SC"/>
              </a:rPr>
              <a:t>你只做两件事：</a:t>
            </a:r>
          </a:p>
          <a:p>
            <a:pPr algn="l">
              <a:lnSpc>
                <a:spcPts val="3864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760" b="1" i="0">
                <a:solidFill>
                  <a:srgbClr val="3A2D00"/>
                </a:solidFill>
                <a:latin typeface="PingFang SC"/>
                <a:ea typeface="PingFang SC"/>
                <a:cs typeface="PingFang SC"/>
              </a:rPr>
              <a:t>给素材，做判断。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4023360"/>
            <a:ext cx="5486400" cy="3657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0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—— 一周一课 · 2026.10.28 · 闫亚老师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你不是短视频拿不到客资，你是卡在一个圈里出不来</dc:title>
  <dc:subject/>
  <dc:creator>闫亚</dc:creator>
  <cp:keywords/>
  <dc:description>一周一课 · 2026.09.02 · 可编辑版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